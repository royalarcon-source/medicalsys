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6"/>
    <p:sldId id="261" r:id="rId17"/>
    <p:sldId id="262" r:id="rId18"/>
    <p:sldId id="263" r:id="rId19"/>
    <p:sldId id="264" r:id="rId20"/>
    <p:sldId id="265" r:id="rId21"/>
  </p:sldIdLst>
  <p:sldSz cx="18288000" cy="10287000"/>
  <p:notesSz cx="6858000" cy="9144000"/>
  <p:embeddedFontLst>
    <p:embeddedFont>
      <p:font typeface="Calibri (MS) Bold" charset="1" panose="020F0702030404030204"/>
      <p:regular r:id="rId10"/>
    </p:embeddedFont>
    <p:embeddedFont>
      <p:font typeface="Cambria Bold" charset="1" panose="02040803050406030204"/>
      <p:regular r:id="rId11"/>
    </p:embeddedFont>
    <p:embeddedFont>
      <p:font typeface="Calibri (MS)" charset="1" panose="020F0502020204030204"/>
      <p:regular r:id="rId12"/>
    </p:embeddedFont>
    <p:embeddedFont>
      <p:font typeface="Courier New Bold" charset="1" panose="02070609020205020404"/>
      <p:regular r:id="rId13"/>
    </p:embeddedFont>
    <p:embeddedFont>
      <p:font typeface="Calibri (MS) Italics" charset="1" panose="020F05020202040A0204"/>
      <p:regular r:id="rId14"/>
    </p:embeddedFont>
    <p:embeddedFont>
      <p:font typeface="Courier New" charset="1" panose="020703090202050204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font" Target="fonts/font10.fntdata"/><Relationship Id="rId11" Type="http://schemas.openxmlformats.org/officeDocument/2006/relationships/font" Target="fonts/font11.fntdata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566160"/>
            <a:ext cx="9601200" cy="9601200"/>
            <a:chOff x="0" y="0"/>
            <a:chExt cx="12801600" cy="128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0B4F8A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99080" y="6309360"/>
            <a:ext cx="5486400" cy="5486400"/>
            <a:chOff x="0" y="0"/>
            <a:chExt cx="7315200" cy="731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1F6FB2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185166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8FC1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SPRINT 3 · MEDICALSYS PLATFORM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0158" y="685368"/>
            <a:ext cx="14538960" cy="5349672"/>
            <a:chOff x="0" y="0"/>
            <a:chExt cx="19385280" cy="71328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85280" cy="7132896"/>
            </a:xfrm>
            <a:custGeom>
              <a:avLst/>
              <a:gdLst/>
              <a:ahLst/>
              <a:cxnLst/>
              <a:rect r="r" b="b" t="t" l="l"/>
              <a:pathLst>
                <a:path h="7132896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7132896"/>
                  </a:lnTo>
                  <a:lnTo>
                    <a:pt x="0" y="713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61" r="0" b="252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385280" cy="7170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b="true" sz="6000" spc="-6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Disponibilidad médica: Implementación de las HU-13 y HU-14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4594860"/>
            <a:ext cx="13167360" cy="796723"/>
            <a:chOff x="0" y="0"/>
            <a:chExt cx="17556480" cy="10622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56480" cy="1062298"/>
            </a:xfrm>
            <a:custGeom>
              <a:avLst/>
              <a:gdLst/>
              <a:ahLst/>
              <a:cxnLst/>
              <a:rect r="r" b="b" t="t" l="l"/>
              <a:pathLst>
                <a:path h="1062298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062298"/>
                  </a:lnTo>
                  <a:lnTo>
                    <a:pt x="0" y="10622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988" r="0" b="-26506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7556480" cy="1119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7D9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HU-13 (registrar) y HU-14 (consultar): el médico define sus franjas de atención y ese horario queda disponible para agendamiento, filtrable por médico, especialidad o día.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5274600">
            <a:off x="842705" y="5922645"/>
            <a:ext cx="783479" cy="0"/>
          </a:xfrm>
          <a:prstGeom prst="line">
            <a:avLst/>
          </a:prstGeom>
          <a:ln cap="rnd" w="19050">
            <a:solidFill>
              <a:srgbClr val="3E6B9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577340" y="5417820"/>
            <a:ext cx="8229600" cy="1028700"/>
            <a:chOff x="0" y="0"/>
            <a:chExt cx="10972800" cy="137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97280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Alan Ariel Maldonado Carvajal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FB8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Arquitectura de Software · Sprint 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4915" y="6917055"/>
            <a:ext cx="7631430" cy="1459230"/>
            <a:chOff x="0" y="0"/>
            <a:chExt cx="10175240" cy="1945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752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17524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10008489" y="0"/>
                  </a:lnTo>
                  <a:cubicBezTo>
                    <a:pt x="10100564" y="0"/>
                    <a:pt x="10175240" y="74676"/>
                    <a:pt x="10175240" y="166751"/>
                  </a:cubicBezTo>
                  <a:lnTo>
                    <a:pt x="10175240" y="1778889"/>
                  </a:lnTo>
                  <a:cubicBezTo>
                    <a:pt x="10175240" y="1870964"/>
                    <a:pt x="10100564" y="1945640"/>
                    <a:pt x="10008489" y="1945640"/>
                  </a:cubicBezTo>
                  <a:lnTo>
                    <a:pt x="166751" y="1945640"/>
                  </a:lnTo>
                  <a:cubicBezTo>
                    <a:pt x="74676" y="1945640"/>
                    <a:pt x="0" y="1870964"/>
                    <a:pt x="0" y="1778889"/>
                  </a:cubicBezTo>
                  <a:close/>
                </a:path>
              </a:pathLst>
            </a:custGeom>
            <a:solidFill>
              <a:srgbClr val="0E3E66"/>
            </a:solidFill>
            <a:ln w="19050" cap="sq">
              <a:solidFill>
                <a:srgbClr val="1F6FB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36192" y="7221474"/>
            <a:ext cx="850392" cy="850392"/>
            <a:chOff x="0" y="0"/>
            <a:chExt cx="1133856" cy="11338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723282" y="7408564"/>
            <a:ext cx="476221" cy="476221"/>
            <a:chOff x="0" y="0"/>
            <a:chExt cx="634962" cy="634962"/>
          </a:xfrm>
        </p:grpSpPr>
        <p:sp>
          <p:nvSpPr>
            <p:cNvPr name="Freeform 24" id="24" descr="/home/claude/medicalsys_pptx/icons/userMd_white.png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6" b="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606040" y="7104888"/>
            <a:ext cx="5966460" cy="411480"/>
            <a:chOff x="0" y="0"/>
            <a:chExt cx="795528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55280" cy="548640"/>
            </a:xfrm>
            <a:custGeom>
              <a:avLst/>
              <a:gdLst/>
              <a:ahLst/>
              <a:cxnLst/>
              <a:rect r="r" b="b" t="t" l="l"/>
              <a:pathLst>
                <a:path h="54864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955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75">
                  <a:solidFill>
                    <a:srgbClr val="8FC1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HU-13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606040" y="7491984"/>
            <a:ext cx="59664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Reservar cita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17355" y="6917055"/>
            <a:ext cx="7631430" cy="1459230"/>
            <a:chOff x="0" y="0"/>
            <a:chExt cx="10175240" cy="1945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752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17524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10008489" y="0"/>
                  </a:lnTo>
                  <a:cubicBezTo>
                    <a:pt x="10100564" y="0"/>
                    <a:pt x="10175240" y="74676"/>
                    <a:pt x="10175240" y="166751"/>
                  </a:cubicBezTo>
                  <a:lnTo>
                    <a:pt x="10175240" y="1778889"/>
                  </a:lnTo>
                  <a:cubicBezTo>
                    <a:pt x="10175240" y="1870964"/>
                    <a:pt x="10100564" y="1945640"/>
                    <a:pt x="10008489" y="1945640"/>
                  </a:cubicBezTo>
                  <a:lnTo>
                    <a:pt x="166751" y="1945640"/>
                  </a:lnTo>
                  <a:cubicBezTo>
                    <a:pt x="74676" y="1945640"/>
                    <a:pt x="0" y="1870964"/>
                    <a:pt x="0" y="1778889"/>
                  </a:cubicBezTo>
                  <a:close/>
                </a:path>
              </a:pathLst>
            </a:custGeom>
            <a:solidFill>
              <a:srgbClr val="0E3E66"/>
            </a:solidFill>
            <a:ln w="19050" cap="sq">
              <a:solidFill>
                <a:srgbClr val="1F6FB2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628632" y="7221474"/>
            <a:ext cx="850392" cy="850392"/>
            <a:chOff x="0" y="0"/>
            <a:chExt cx="1133856" cy="11338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15722" y="7408564"/>
            <a:ext cx="476221" cy="476221"/>
            <a:chOff x="0" y="0"/>
            <a:chExt cx="634962" cy="634962"/>
          </a:xfrm>
        </p:grpSpPr>
        <p:sp>
          <p:nvSpPr>
            <p:cNvPr name="Freeform 34" id="34" descr="/home/claude/medicalsys_pptx/icons/clock_white.png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6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708005" y="7104888"/>
            <a:ext cx="5966460" cy="411480"/>
            <a:chOff x="0" y="0"/>
            <a:chExt cx="795528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55280" cy="548640"/>
            </a:xfrm>
            <a:custGeom>
              <a:avLst/>
              <a:gdLst/>
              <a:ahLst/>
              <a:cxnLst/>
              <a:rect r="r" b="b" t="t" l="l"/>
              <a:pathLst>
                <a:path h="54864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955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75">
                  <a:solidFill>
                    <a:srgbClr val="8FC1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HU-14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698480" y="7491984"/>
            <a:ext cx="59664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Cancelar/reprogramar cita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34440" y="8805672"/>
            <a:ext cx="5486400" cy="384048"/>
            <a:chOff x="0" y="0"/>
            <a:chExt cx="7315200" cy="5120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73152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224">
                  <a:solidFill>
                    <a:srgbClr val="6E93B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STACK TECNOLÓGICO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7296" y="9264872"/>
            <a:ext cx="1756220" cy="562928"/>
            <a:chOff x="0" y="0"/>
            <a:chExt cx="2341626" cy="7505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41626" cy="750570"/>
            </a:xfrm>
            <a:custGeom>
              <a:avLst/>
              <a:gdLst/>
              <a:ahLst/>
              <a:cxnLst/>
              <a:rect r="r" b="b" t="t" l="l"/>
              <a:pathLst>
                <a:path h="750570" w="2341626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966341" y="0"/>
                  </a:lnTo>
                  <a:cubicBezTo>
                    <a:pt x="2173605" y="0"/>
                    <a:pt x="2341626" y="168021"/>
                    <a:pt x="2341626" y="375285"/>
                  </a:cubicBezTo>
                  <a:cubicBezTo>
                    <a:pt x="2341626" y="582549"/>
                    <a:pt x="2173605" y="750570"/>
                    <a:pt x="1966341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0E3E66"/>
            </a:solidFill>
            <a:ln w="14288" cap="sq">
              <a:solidFill>
                <a:srgbClr val="2A5C8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34440" y="9272016"/>
            <a:ext cx="1741932" cy="548640"/>
            <a:chOff x="0" y="0"/>
            <a:chExt cx="2322576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22576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">
                  <a:moveTo>
                    <a:pt x="0" y="0"/>
                  </a:moveTo>
                  <a:lnTo>
                    <a:pt x="2322576" y="0"/>
                  </a:lnTo>
                  <a:lnTo>
                    <a:pt x="232257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64" r="0" b="-1186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32257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DCEB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TypeScript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216116" y="9264872"/>
            <a:ext cx="1373543" cy="562928"/>
            <a:chOff x="0" y="0"/>
            <a:chExt cx="1831391" cy="75057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31340" cy="750570"/>
            </a:xfrm>
            <a:custGeom>
              <a:avLst/>
              <a:gdLst/>
              <a:ahLst/>
              <a:cxnLst/>
              <a:rect r="r" b="b" t="t" l="l"/>
              <a:pathLst>
                <a:path h="750570" w="183134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456055" y="0"/>
                  </a:lnTo>
                  <a:cubicBezTo>
                    <a:pt x="1663319" y="0"/>
                    <a:pt x="1831340" y="168021"/>
                    <a:pt x="1831340" y="375285"/>
                  </a:cubicBezTo>
                  <a:cubicBezTo>
                    <a:pt x="1831340" y="582549"/>
                    <a:pt x="1663319" y="750570"/>
                    <a:pt x="1456055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0E3E66"/>
            </a:solidFill>
            <a:ln w="14288" cap="sq">
              <a:solidFill>
                <a:srgbClr val="2A5C8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3223260" y="9272016"/>
            <a:ext cx="1359256" cy="548640"/>
            <a:chOff x="0" y="0"/>
            <a:chExt cx="1812341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12340" cy="731520"/>
            </a:xfrm>
            <a:custGeom>
              <a:avLst/>
              <a:gdLst/>
              <a:ahLst/>
              <a:cxnLst/>
              <a:rect r="r" b="b" t="t" l="l"/>
              <a:pathLst>
                <a:path h="731520" w="1812340">
                  <a:moveTo>
                    <a:pt x="0" y="0"/>
                  </a:moveTo>
                  <a:lnTo>
                    <a:pt x="1812340" y="0"/>
                  </a:lnTo>
                  <a:lnTo>
                    <a:pt x="18123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87" t="0" r="-178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812341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DCEB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Node.js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822260" y="9264872"/>
            <a:ext cx="1373543" cy="562928"/>
            <a:chOff x="0" y="0"/>
            <a:chExt cx="1831391" cy="7505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31340" cy="750570"/>
            </a:xfrm>
            <a:custGeom>
              <a:avLst/>
              <a:gdLst/>
              <a:ahLst/>
              <a:cxnLst/>
              <a:rect r="r" b="b" t="t" l="l"/>
              <a:pathLst>
                <a:path h="750570" w="183134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456055" y="0"/>
                  </a:lnTo>
                  <a:cubicBezTo>
                    <a:pt x="1663319" y="0"/>
                    <a:pt x="1831340" y="168021"/>
                    <a:pt x="1831340" y="375285"/>
                  </a:cubicBezTo>
                  <a:cubicBezTo>
                    <a:pt x="1831340" y="582549"/>
                    <a:pt x="1663319" y="750570"/>
                    <a:pt x="1456055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0E3E66"/>
            </a:solidFill>
            <a:ln w="14288" cap="sq">
              <a:solidFill>
                <a:srgbClr val="2A5C8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4829404" y="9272016"/>
            <a:ext cx="1359256" cy="548640"/>
            <a:chOff x="0" y="0"/>
            <a:chExt cx="1812341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12340" cy="731520"/>
            </a:xfrm>
            <a:custGeom>
              <a:avLst/>
              <a:gdLst/>
              <a:ahLst/>
              <a:cxnLst/>
              <a:rect r="r" b="b" t="t" l="l"/>
              <a:pathLst>
                <a:path h="731520" w="1812340">
                  <a:moveTo>
                    <a:pt x="0" y="0"/>
                  </a:moveTo>
                  <a:lnTo>
                    <a:pt x="1812340" y="0"/>
                  </a:lnTo>
                  <a:lnTo>
                    <a:pt x="18123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87" t="0" r="-1787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812341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DCEB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Express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428403" y="9264872"/>
            <a:ext cx="1373543" cy="562928"/>
            <a:chOff x="0" y="0"/>
            <a:chExt cx="1831391" cy="75057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31340" cy="750570"/>
            </a:xfrm>
            <a:custGeom>
              <a:avLst/>
              <a:gdLst/>
              <a:ahLst/>
              <a:cxnLst/>
              <a:rect r="r" b="b" t="t" l="l"/>
              <a:pathLst>
                <a:path h="750570" w="183134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456055" y="0"/>
                  </a:lnTo>
                  <a:cubicBezTo>
                    <a:pt x="1663319" y="0"/>
                    <a:pt x="1831340" y="168021"/>
                    <a:pt x="1831340" y="375285"/>
                  </a:cubicBezTo>
                  <a:cubicBezTo>
                    <a:pt x="1831340" y="582549"/>
                    <a:pt x="1663319" y="750570"/>
                    <a:pt x="1456055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0E3E66"/>
            </a:solidFill>
            <a:ln w="14288" cap="sq">
              <a:solidFill>
                <a:srgbClr val="2A5C86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435547" y="9272016"/>
            <a:ext cx="1359256" cy="548640"/>
            <a:chOff x="0" y="0"/>
            <a:chExt cx="1812341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12340" cy="731520"/>
            </a:xfrm>
            <a:custGeom>
              <a:avLst/>
              <a:gdLst/>
              <a:ahLst/>
              <a:cxnLst/>
              <a:rect r="r" b="b" t="t" l="l"/>
              <a:pathLst>
                <a:path h="731520" w="1812340">
                  <a:moveTo>
                    <a:pt x="0" y="0"/>
                  </a:moveTo>
                  <a:lnTo>
                    <a:pt x="1812340" y="0"/>
                  </a:lnTo>
                  <a:lnTo>
                    <a:pt x="18123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87" t="0" r="-178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812341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DCEB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TypeORM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034547" y="9264872"/>
            <a:ext cx="1756220" cy="562928"/>
            <a:chOff x="0" y="0"/>
            <a:chExt cx="2341626" cy="7505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41626" cy="750570"/>
            </a:xfrm>
            <a:custGeom>
              <a:avLst/>
              <a:gdLst/>
              <a:ahLst/>
              <a:cxnLst/>
              <a:rect r="r" b="b" t="t" l="l"/>
              <a:pathLst>
                <a:path h="750570" w="2341626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966341" y="0"/>
                  </a:lnTo>
                  <a:cubicBezTo>
                    <a:pt x="2173605" y="0"/>
                    <a:pt x="2341626" y="168021"/>
                    <a:pt x="2341626" y="375285"/>
                  </a:cubicBezTo>
                  <a:cubicBezTo>
                    <a:pt x="2341626" y="582549"/>
                    <a:pt x="2173605" y="750570"/>
                    <a:pt x="1966341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0E3E66"/>
            </a:solidFill>
            <a:ln w="14288" cap="sq">
              <a:solidFill>
                <a:srgbClr val="2A5C86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8041691" y="9272016"/>
            <a:ext cx="1741932" cy="548640"/>
            <a:chOff x="0" y="0"/>
            <a:chExt cx="2322576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22576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">
                  <a:moveTo>
                    <a:pt x="0" y="0"/>
                  </a:moveTo>
                  <a:lnTo>
                    <a:pt x="2322576" y="0"/>
                  </a:lnTo>
                  <a:lnTo>
                    <a:pt x="232257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64" r="0" b="-1186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32257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DCEB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PostgreSQL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0928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MedicalSys · Sprint 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7263" y="2063115"/>
            <a:ext cx="15799912" cy="4339590"/>
            <a:chOff x="0" y="0"/>
            <a:chExt cx="21066550" cy="5786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66550" cy="5786120"/>
            </a:xfrm>
            <a:custGeom>
              <a:avLst/>
              <a:gdLst/>
              <a:ahLst/>
              <a:cxnLst/>
              <a:rect r="r" b="b" t="t" l="l"/>
              <a:pathLst>
                <a:path h="5786120" w="21066550">
                  <a:moveTo>
                    <a:pt x="0" y="128524"/>
                  </a:moveTo>
                  <a:cubicBezTo>
                    <a:pt x="0" y="57531"/>
                    <a:pt x="113017" y="0"/>
                    <a:pt x="252479" y="0"/>
                  </a:cubicBezTo>
                  <a:lnTo>
                    <a:pt x="20814071" y="0"/>
                  </a:lnTo>
                  <a:cubicBezTo>
                    <a:pt x="20953533" y="0"/>
                    <a:pt x="21066550" y="57531"/>
                    <a:pt x="21066550" y="128524"/>
                  </a:cubicBezTo>
                  <a:lnTo>
                    <a:pt x="21066550" y="5657596"/>
                  </a:lnTo>
                  <a:cubicBezTo>
                    <a:pt x="21066550" y="5728589"/>
                    <a:pt x="20953533" y="5786120"/>
                    <a:pt x="20814071" y="5786120"/>
                  </a:cubicBezTo>
                  <a:lnTo>
                    <a:pt x="252479" y="5786120"/>
                  </a:lnTo>
                  <a:cubicBezTo>
                    <a:pt x="113017" y="5786120"/>
                    <a:pt x="0" y="5728589"/>
                    <a:pt x="0" y="5657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68456" y="2094308"/>
            <a:ext cx="15790387" cy="850392"/>
            <a:chOff x="0" y="0"/>
            <a:chExt cx="21053850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5385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53850">
                  <a:moveTo>
                    <a:pt x="0" y="128016"/>
                  </a:moveTo>
                  <a:cubicBezTo>
                    <a:pt x="0" y="57277"/>
                    <a:pt x="112717" y="0"/>
                    <a:pt x="251926" y="0"/>
                  </a:cubicBezTo>
                  <a:lnTo>
                    <a:pt x="20801924" y="0"/>
                  </a:lnTo>
                  <a:cubicBezTo>
                    <a:pt x="20941133" y="0"/>
                    <a:pt x="21053850" y="57277"/>
                    <a:pt x="21053850" y="128016"/>
                  </a:cubicBezTo>
                  <a:lnTo>
                    <a:pt x="21053850" y="1005840"/>
                  </a:lnTo>
                  <a:cubicBezTo>
                    <a:pt x="21053850" y="1076579"/>
                    <a:pt x="20941133" y="1133856"/>
                    <a:pt x="20801924" y="1133856"/>
                  </a:cubicBezTo>
                  <a:lnTo>
                    <a:pt x="251926" y="1133856"/>
                  </a:lnTo>
                  <a:cubicBezTo>
                    <a:pt x="112717" y="1133856"/>
                    <a:pt x="0" y="1076579"/>
                    <a:pt x="0" y="1005840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8456" y="2519504"/>
            <a:ext cx="8023860" cy="425196"/>
            <a:chOff x="0" y="0"/>
            <a:chExt cx="10698480" cy="566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98480" cy="566928"/>
            </a:xfrm>
            <a:custGeom>
              <a:avLst/>
              <a:gdLst/>
              <a:ahLst/>
              <a:cxnLst/>
              <a:rect r="r" b="b" t="t" l="l"/>
              <a:pathLst>
                <a:path h="56692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566928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79936" y="2094308"/>
            <a:ext cx="2266708" cy="850392"/>
            <a:chOff x="0" y="0"/>
            <a:chExt cx="3022277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22278" cy="1133856"/>
            </a:xfrm>
            <a:custGeom>
              <a:avLst/>
              <a:gdLst/>
              <a:ahLst/>
              <a:cxnLst/>
              <a:rect r="r" b="b" t="t" l="l"/>
              <a:pathLst>
                <a:path h="1133856" w="3022278">
                  <a:moveTo>
                    <a:pt x="0" y="0"/>
                  </a:moveTo>
                  <a:lnTo>
                    <a:pt x="3022278" y="0"/>
                  </a:lnTo>
                  <a:lnTo>
                    <a:pt x="302227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423" r="-193476" b="-10242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022277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historia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26391" y="3275637"/>
            <a:ext cx="4172407" cy="576072"/>
            <a:chOff x="0" y="0"/>
            <a:chExt cx="556321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63210" cy="768096"/>
            </a:xfrm>
            <a:custGeom>
              <a:avLst/>
              <a:gdLst/>
              <a:ahLst/>
              <a:cxnLst/>
              <a:rect r="r" b="b" t="t" l="l"/>
              <a:pathLst>
                <a:path h="768096" w="5563210">
                  <a:moveTo>
                    <a:pt x="0" y="0"/>
                  </a:moveTo>
                  <a:lnTo>
                    <a:pt x="5563210" y="0"/>
                  </a:lnTo>
                  <a:lnTo>
                    <a:pt x="556321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127" r="0" b="-9112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56321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HU-13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673912" y="4463444"/>
            <a:ext cx="15223764" cy="0"/>
          </a:xfrm>
          <a:prstGeom prst="line">
            <a:avLst/>
          </a:prstGeom>
          <a:ln cap="rnd" w="9525">
            <a:solidFill>
              <a:srgbClr val="D7DF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2326391" y="4967810"/>
            <a:ext cx="4172407" cy="576072"/>
            <a:chOff x="0" y="0"/>
            <a:chExt cx="5563210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63210" cy="768096"/>
            </a:xfrm>
            <a:custGeom>
              <a:avLst/>
              <a:gdLst/>
              <a:ahLst/>
              <a:cxnLst/>
              <a:rect r="r" b="b" t="t" l="l"/>
              <a:pathLst>
                <a:path h="768096" w="5563210">
                  <a:moveTo>
                    <a:pt x="0" y="0"/>
                  </a:moveTo>
                  <a:lnTo>
                    <a:pt x="5563210" y="0"/>
                  </a:lnTo>
                  <a:lnTo>
                    <a:pt x="556321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127" r="0" b="-9112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56321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HU-14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511597" y="4801581"/>
            <a:ext cx="3279496" cy="1113741"/>
            <a:chOff x="0" y="0"/>
            <a:chExt cx="4372661" cy="14849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72660" cy="1484988"/>
            </a:xfrm>
            <a:custGeom>
              <a:avLst/>
              <a:gdLst/>
              <a:ahLst/>
              <a:cxnLst/>
              <a:rect r="r" b="b" t="t" l="l"/>
              <a:pathLst>
                <a:path h="1484988" w="4372660">
                  <a:moveTo>
                    <a:pt x="0" y="0"/>
                  </a:moveTo>
                  <a:lnTo>
                    <a:pt x="4372660" y="0"/>
                  </a:lnTo>
                  <a:lnTo>
                    <a:pt x="4372660" y="1484988"/>
                  </a:lnTo>
                  <a:lnTo>
                    <a:pt x="0" y="14849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13" r="0" b="1676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372661" cy="1523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70"/>
                </a:lnSpc>
              </a:pPr>
              <a:r>
                <a:rPr lang="en-US" sz="1725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 cualquier usuario autenticado pueda consultar los horarios disponibles de los médicos, con filtros útiles para agendar citas.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511597" y="3119169"/>
            <a:ext cx="3279496" cy="1113741"/>
            <a:chOff x="0" y="0"/>
            <a:chExt cx="4372661" cy="14849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72660" cy="1484988"/>
            </a:xfrm>
            <a:custGeom>
              <a:avLst/>
              <a:gdLst/>
              <a:ahLst/>
              <a:cxnLst/>
              <a:rect r="r" b="b" t="t" l="l"/>
              <a:pathLst>
                <a:path h="1484988" w="4372660">
                  <a:moveTo>
                    <a:pt x="0" y="0"/>
                  </a:moveTo>
                  <a:lnTo>
                    <a:pt x="4372660" y="0"/>
                  </a:lnTo>
                  <a:lnTo>
                    <a:pt x="4372660" y="1484988"/>
                  </a:lnTo>
                  <a:lnTo>
                    <a:pt x="0" y="14849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13" r="0" b="167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372661" cy="1523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70"/>
                </a:lnSpc>
              </a:pPr>
              <a:r>
                <a:rPr lang="en-US" sz="1725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permitir que un médico defina los bloques horarios en los que atiende, y que un administrador pueda hacerlo en su nombre.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13435" y="7259955"/>
            <a:ext cx="16752570" cy="1596390"/>
            <a:chOff x="0" y="0"/>
            <a:chExt cx="22336760" cy="2128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336759" cy="2128520"/>
            </a:xfrm>
            <a:custGeom>
              <a:avLst/>
              <a:gdLst/>
              <a:ahLst/>
              <a:cxnLst/>
              <a:rect r="r" b="b" t="t" l="l"/>
              <a:pathLst>
                <a:path h="2128520" w="22336759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22207220" y="0"/>
                  </a:lnTo>
                  <a:cubicBezTo>
                    <a:pt x="22278721" y="0"/>
                    <a:pt x="22336759" y="58039"/>
                    <a:pt x="22336759" y="129540"/>
                  </a:cubicBezTo>
                  <a:lnTo>
                    <a:pt x="22336759" y="1998980"/>
                  </a:lnTo>
                  <a:cubicBezTo>
                    <a:pt x="22336759" y="2070481"/>
                    <a:pt x="22278721" y="2128520"/>
                    <a:pt x="22207220" y="2128520"/>
                  </a:cubicBezTo>
                  <a:lnTo>
                    <a:pt x="129540" y="2128520"/>
                  </a:lnTo>
                  <a:cubicBezTo>
                    <a:pt x="58039" y="2128520"/>
                    <a:pt x="0" y="2070481"/>
                    <a:pt x="0" y="1998980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" y="7461504"/>
            <a:ext cx="6858000" cy="411480"/>
            <a:chOff x="0" y="0"/>
            <a:chExt cx="91440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0B4F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REGLAS DE NEGOCIO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" y="7982712"/>
            <a:ext cx="576072" cy="576072"/>
            <a:chOff x="0" y="0"/>
            <a:chExt cx="768096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64056" y="8112328"/>
            <a:ext cx="316840" cy="316840"/>
            <a:chOff x="0" y="0"/>
            <a:chExt cx="422453" cy="422453"/>
          </a:xfrm>
        </p:grpSpPr>
        <p:sp>
          <p:nvSpPr>
            <p:cNvPr name="Freeform 38" id="38" descr="/home/claude/medicalsys_pptx/icons/clipboard_white.png"/>
            <p:cNvSpPr/>
            <p:nvPr/>
          </p:nvSpPr>
          <p:spPr>
            <a:xfrm flipH="false" flipV="false" rot="0">
              <a:off x="0" y="0"/>
              <a:ext cx="422402" cy="422402"/>
            </a:xfrm>
            <a:custGeom>
              <a:avLst/>
              <a:gdLst/>
              <a:ahLst/>
              <a:cxnLst/>
              <a:rect r="r" b="b" t="t" l="l"/>
              <a:pathLst>
                <a:path h="422402" w="422402">
                  <a:moveTo>
                    <a:pt x="0" y="0"/>
                  </a:moveTo>
                  <a:lnTo>
                    <a:pt x="422402" y="0"/>
                  </a:lnTo>
                  <a:lnTo>
                    <a:pt x="422402" y="422402"/>
                  </a:lnTo>
                  <a:lnTo>
                    <a:pt x="0" y="422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2" b="-12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006763" y="7872984"/>
            <a:ext cx="14639089" cy="1071944"/>
            <a:chOff x="0" y="0"/>
            <a:chExt cx="19518785" cy="14292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518785" cy="1429258"/>
            </a:xfrm>
            <a:custGeom>
              <a:avLst/>
              <a:gdLst/>
              <a:ahLst/>
              <a:cxnLst/>
              <a:rect r="r" b="b" t="t" l="l"/>
              <a:pathLst>
                <a:path h="1429258" w="19518785">
                  <a:moveTo>
                    <a:pt x="0" y="0"/>
                  </a:moveTo>
                  <a:lnTo>
                    <a:pt x="19518785" y="0"/>
                  </a:lnTo>
                  <a:lnTo>
                    <a:pt x="19518785" y="1429258"/>
                  </a:lnTo>
                  <a:lnTo>
                    <a:pt x="0" y="14292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11" r="69861" b="-1858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9518785" cy="1457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99">
                  <a:solidFill>
                    <a:srgbClr val="4454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común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454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</a:t>
              </a:r>
              <a:r>
                <a:rPr lang="en-US" sz="1650">
                  <a:solidFill>
                    <a:srgbClr val="4454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 historias comparten la entidad HorarioDisponibilidad sobre la tabla horario_disponibilidad, el mismo repositorio y servicio de reglas de negocio, y rutas protegidas con requirePermission() mediante los permisos DISPONIBILIDAD_GESTIONAR (HU-13) y DISPONIBILIDAD_VER (HU-14).</a:t>
              </a:r>
            </a:p>
            <a:p>
              <a:pPr algn="l">
                <a:lnSpc>
                  <a:spcPts val="198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524384" y="2094308"/>
            <a:ext cx="2266708" cy="850392"/>
            <a:chOff x="0" y="0"/>
            <a:chExt cx="3022277" cy="11338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22278" cy="1133856"/>
            </a:xfrm>
            <a:custGeom>
              <a:avLst/>
              <a:gdLst/>
              <a:ahLst/>
              <a:cxnLst/>
              <a:rect r="r" b="b" t="t" l="l"/>
              <a:pathLst>
                <a:path h="1133856" w="3022278">
                  <a:moveTo>
                    <a:pt x="0" y="0"/>
                  </a:moveTo>
                  <a:lnTo>
                    <a:pt x="3022278" y="0"/>
                  </a:lnTo>
                  <a:lnTo>
                    <a:pt x="302227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423" r="-193476" b="-10242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022277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Objetivo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021697" y="2094308"/>
            <a:ext cx="3505565" cy="850392"/>
            <a:chOff x="0" y="0"/>
            <a:chExt cx="4674086" cy="11338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74086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74086">
                  <a:moveTo>
                    <a:pt x="0" y="0"/>
                  </a:moveTo>
                  <a:lnTo>
                    <a:pt x="4674086" y="0"/>
                  </a:lnTo>
                  <a:lnTo>
                    <a:pt x="467408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423" r="-89762" b="-10242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674086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Endpoint principal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444932" y="3147441"/>
            <a:ext cx="4659095" cy="1112958"/>
            <a:chOff x="0" y="0"/>
            <a:chExt cx="22336760" cy="533577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336759" cy="5335774"/>
            </a:xfrm>
            <a:custGeom>
              <a:avLst/>
              <a:gdLst/>
              <a:ahLst/>
              <a:cxnLst/>
              <a:rect r="r" b="b" t="t" l="l"/>
              <a:pathLst>
                <a:path h="5335774" w="22336759">
                  <a:moveTo>
                    <a:pt x="0" y="324731"/>
                  </a:moveTo>
                  <a:cubicBezTo>
                    <a:pt x="0" y="145492"/>
                    <a:pt x="58039" y="0"/>
                    <a:pt x="129540" y="0"/>
                  </a:cubicBezTo>
                  <a:lnTo>
                    <a:pt x="22207220" y="0"/>
                  </a:lnTo>
                  <a:cubicBezTo>
                    <a:pt x="22278721" y="0"/>
                    <a:pt x="22336759" y="145492"/>
                    <a:pt x="22336759" y="324731"/>
                  </a:cubicBezTo>
                  <a:lnTo>
                    <a:pt x="22336759" y="5011043"/>
                  </a:lnTo>
                  <a:cubicBezTo>
                    <a:pt x="22336759" y="5190282"/>
                    <a:pt x="22278721" y="5335774"/>
                    <a:pt x="22207220" y="5335774"/>
                  </a:cubicBezTo>
                  <a:lnTo>
                    <a:pt x="129540" y="5335774"/>
                  </a:lnTo>
                  <a:cubicBezTo>
                    <a:pt x="58039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444932" y="4837508"/>
            <a:ext cx="4659095" cy="1112958"/>
            <a:chOff x="0" y="0"/>
            <a:chExt cx="22336760" cy="533577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336759" cy="5335774"/>
            </a:xfrm>
            <a:custGeom>
              <a:avLst/>
              <a:gdLst/>
              <a:ahLst/>
              <a:cxnLst/>
              <a:rect r="r" b="b" t="t" l="l"/>
              <a:pathLst>
                <a:path h="5335774" w="22336759">
                  <a:moveTo>
                    <a:pt x="0" y="324731"/>
                  </a:moveTo>
                  <a:cubicBezTo>
                    <a:pt x="0" y="145492"/>
                    <a:pt x="58039" y="0"/>
                    <a:pt x="129540" y="0"/>
                  </a:cubicBezTo>
                  <a:lnTo>
                    <a:pt x="22207220" y="0"/>
                  </a:lnTo>
                  <a:cubicBezTo>
                    <a:pt x="22278721" y="0"/>
                    <a:pt x="22336759" y="145492"/>
                    <a:pt x="22336759" y="324731"/>
                  </a:cubicBezTo>
                  <a:lnTo>
                    <a:pt x="22336759" y="5011043"/>
                  </a:lnTo>
                  <a:cubicBezTo>
                    <a:pt x="22336759" y="5190282"/>
                    <a:pt x="22278721" y="5335774"/>
                    <a:pt x="22207220" y="5335774"/>
                  </a:cubicBezTo>
                  <a:lnTo>
                    <a:pt x="129540" y="5335774"/>
                  </a:lnTo>
                  <a:cubicBezTo>
                    <a:pt x="58039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8815020" y="3207732"/>
            <a:ext cx="3918918" cy="8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POST /api/disponibilidad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815020" y="4920912"/>
            <a:ext cx="3918918" cy="8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 /api/disponibilidad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4429051" y="2063115"/>
            <a:ext cx="3505565" cy="850392"/>
            <a:chOff x="0" y="0"/>
            <a:chExt cx="4674086" cy="11338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674086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74086">
                  <a:moveTo>
                    <a:pt x="0" y="0"/>
                  </a:moveTo>
                  <a:lnTo>
                    <a:pt x="4674086" y="0"/>
                  </a:lnTo>
                  <a:lnTo>
                    <a:pt x="467408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423" r="-89762" b="-10242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4674086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Pruebas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559649" y="3392771"/>
            <a:ext cx="4172407" cy="576072"/>
            <a:chOff x="0" y="0"/>
            <a:chExt cx="5563210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563210" cy="768096"/>
            </a:xfrm>
            <a:custGeom>
              <a:avLst/>
              <a:gdLst/>
              <a:ahLst/>
              <a:cxnLst/>
              <a:rect r="r" b="b" t="t" l="l"/>
              <a:pathLst>
                <a:path h="768096" w="5563210">
                  <a:moveTo>
                    <a:pt x="0" y="0"/>
                  </a:moveTo>
                  <a:lnTo>
                    <a:pt x="5563210" y="0"/>
                  </a:lnTo>
                  <a:lnTo>
                    <a:pt x="556321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127" r="0" b="-9112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556321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14 / 14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559649" y="5105951"/>
            <a:ext cx="4172407" cy="576072"/>
            <a:chOff x="0" y="0"/>
            <a:chExt cx="5563210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563210" cy="768096"/>
            </a:xfrm>
            <a:custGeom>
              <a:avLst/>
              <a:gdLst/>
              <a:ahLst/>
              <a:cxnLst/>
              <a:rect r="r" b="b" t="t" l="l"/>
              <a:pathLst>
                <a:path h="768096" w="5563210">
                  <a:moveTo>
                    <a:pt x="0" y="0"/>
                  </a:moveTo>
                  <a:lnTo>
                    <a:pt x="5563210" y="0"/>
                  </a:lnTo>
                  <a:lnTo>
                    <a:pt x="556321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127" r="0" b="-9112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556321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10 / 10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B4F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BACKEND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483" y="0"/>
            <a:ext cx="16596360" cy="3989394"/>
            <a:chOff x="0" y="0"/>
            <a:chExt cx="22128480" cy="5319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67" r="0" b="60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Registr</a:t>
              </a: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 disponibilidad médica</a:t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2910" y="9851984"/>
            <a:ext cx="6858000" cy="416573"/>
            <a:chOff x="0" y="0"/>
            <a:chExt cx="9144000" cy="555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555430"/>
            </a:xfrm>
            <a:custGeom>
              <a:avLst/>
              <a:gdLst/>
              <a:ahLst/>
              <a:cxnLst/>
              <a:rect r="r" b="b" t="t" l="l"/>
              <a:pathLst>
                <a:path h="55543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5430"/>
                  </a:lnTo>
                  <a:lnTo>
                    <a:pt x="0" y="555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391" r="0" b="-2701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0" cy="58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MedicalSys · Sprint 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276856"/>
            <a:ext cx="16436340" cy="1303020"/>
            <a:chOff x="0" y="0"/>
            <a:chExt cx="2191512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15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915120">
                  <a:moveTo>
                    <a:pt x="0" y="146304"/>
                  </a:moveTo>
                  <a:cubicBezTo>
                    <a:pt x="0" y="65532"/>
                    <a:pt x="307958" y="0"/>
                    <a:pt x="687533" y="0"/>
                  </a:cubicBezTo>
                  <a:lnTo>
                    <a:pt x="21227586" y="0"/>
                  </a:lnTo>
                  <a:cubicBezTo>
                    <a:pt x="21607162" y="0"/>
                    <a:pt x="21915120" y="65532"/>
                    <a:pt x="21915120" y="146304"/>
                  </a:cubicBezTo>
                  <a:lnTo>
                    <a:pt x="21915120" y="1591056"/>
                  </a:lnTo>
                  <a:cubicBezTo>
                    <a:pt x="21915120" y="1671828"/>
                    <a:pt x="21607163" y="1737360"/>
                    <a:pt x="21227586" y="1737360"/>
                  </a:cubicBezTo>
                  <a:lnTo>
                    <a:pt x="687533" y="1737360"/>
                  </a:lnTo>
                  <a:cubicBezTo>
                    <a:pt x="307958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24521" y="2562277"/>
            <a:ext cx="14835123" cy="732179"/>
            <a:chOff x="0" y="0"/>
            <a:chExt cx="19780164" cy="9762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780165" cy="976238"/>
            </a:xfrm>
            <a:custGeom>
              <a:avLst/>
              <a:gdLst/>
              <a:ahLst/>
              <a:cxnLst/>
              <a:rect r="r" b="b" t="t" l="l"/>
              <a:pathLst>
                <a:path h="976238" w="19780165">
                  <a:moveTo>
                    <a:pt x="0" y="0"/>
                  </a:moveTo>
                  <a:lnTo>
                    <a:pt x="19780165" y="0"/>
                  </a:lnTo>
                  <a:lnTo>
                    <a:pt x="19780165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106" r="76423" b="-230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780164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médico define sus propios bloques de atención (día + rango horario); un administrador puede hacerlo en nombre de cualquier médico. El sistema impide horarios solapados e inválidos.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5246" y="3886200"/>
            <a:ext cx="16637508" cy="411480"/>
            <a:chOff x="0" y="0"/>
            <a:chExt cx="22183344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83344" cy="548640"/>
            </a:xfrm>
            <a:custGeom>
              <a:avLst/>
              <a:gdLst/>
              <a:ahLst/>
              <a:cxnLst/>
              <a:rect r="r" b="b" t="t" l="l"/>
              <a:pathLst>
                <a:path h="5486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45" r="0" b="-7378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218334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Separación estricta de responsabilidades en cada capa del backend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04716" y="4370652"/>
            <a:ext cx="790346" cy="790346"/>
            <a:chOff x="0" y="0"/>
            <a:chExt cx="841248" cy="8412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82544" y="4548480"/>
            <a:ext cx="434690" cy="434690"/>
            <a:chOff x="0" y="0"/>
            <a:chExt cx="462686" cy="462686"/>
          </a:xfrm>
        </p:grpSpPr>
        <p:sp>
          <p:nvSpPr>
            <p:cNvPr name="Freeform 25" id="25" descr="/home/claude/medicalsys_pptx/icons/shield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703104" y="3727355"/>
            <a:ext cx="10738393" cy="2009331"/>
            <a:chOff x="0" y="0"/>
            <a:chExt cx="11430000" cy="21387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30000" cy="2138742"/>
            </a:xfrm>
            <a:custGeom>
              <a:avLst/>
              <a:gdLst/>
              <a:ahLst/>
              <a:cxnLst/>
              <a:rect r="r" b="b" t="t" l="l"/>
              <a:pathLst>
                <a:path h="2138742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2138742"/>
                  </a:lnTo>
                  <a:lnTo>
                    <a:pt x="0" y="21387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901" r="0" b="-2636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1430000" cy="2138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Accesos por rol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425428" y="4869180"/>
            <a:ext cx="6035040" cy="3744468"/>
            <a:chOff x="0" y="0"/>
            <a:chExt cx="8046720" cy="49926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46720" cy="4992624"/>
            </a:xfrm>
            <a:custGeom>
              <a:avLst/>
              <a:gdLst/>
              <a:ahLst/>
              <a:cxnLst/>
              <a:rect r="r" b="b" t="t" l="l"/>
              <a:pathLst>
                <a:path h="4992624" w="8046720">
                  <a:moveTo>
                    <a:pt x="0" y="110947"/>
                  </a:moveTo>
                  <a:cubicBezTo>
                    <a:pt x="0" y="49640"/>
                    <a:pt x="57277" y="0"/>
                    <a:pt x="128016" y="0"/>
                  </a:cubicBezTo>
                  <a:lnTo>
                    <a:pt x="7918704" y="0"/>
                  </a:lnTo>
                  <a:cubicBezTo>
                    <a:pt x="7989443" y="0"/>
                    <a:pt x="8046720" y="49640"/>
                    <a:pt x="8046720" y="110947"/>
                  </a:cubicBezTo>
                  <a:lnTo>
                    <a:pt x="8046720" y="4881677"/>
                  </a:lnTo>
                  <a:cubicBezTo>
                    <a:pt x="8046720" y="4942984"/>
                    <a:pt x="7989443" y="4992624"/>
                    <a:pt x="7918704" y="4992624"/>
                  </a:cubicBezTo>
                  <a:lnTo>
                    <a:pt x="128016" y="4992624"/>
                  </a:lnTo>
                  <a:cubicBezTo>
                    <a:pt x="57277" y="4992624"/>
                    <a:pt x="0" y="4942984"/>
                    <a:pt x="0" y="4881677"/>
                  </a:cubicBezTo>
                  <a:close/>
                </a:path>
              </a:pathLst>
            </a:custGeom>
            <a:solidFill>
              <a:srgbClr val="07304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809476" y="5225796"/>
            <a:ext cx="630936" cy="630936"/>
            <a:chOff x="0" y="0"/>
            <a:chExt cx="841248" cy="8412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999062" y="5354041"/>
            <a:ext cx="347015" cy="347015"/>
            <a:chOff x="0" y="0"/>
            <a:chExt cx="462686" cy="462686"/>
          </a:xfrm>
        </p:grpSpPr>
        <p:sp>
          <p:nvSpPr>
            <p:cNvPr name="Freeform 34" id="34" descr="/home/claude/medicalsys_pptx/icons/plug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659868" y="5170932"/>
            <a:ext cx="4526280" cy="713232"/>
            <a:chOff x="0" y="0"/>
            <a:chExt cx="6035040" cy="9509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35040" cy="950976"/>
            </a:xfrm>
            <a:custGeom>
              <a:avLst/>
              <a:gdLst/>
              <a:ahLst/>
              <a:cxnLst/>
              <a:rect r="r" b="b" t="t" l="l"/>
              <a:pathLst>
                <a:path h="95097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655" r="0" b="-736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035040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Endpoints REST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836908" y="6240780"/>
            <a:ext cx="1165860" cy="493776"/>
            <a:chOff x="0" y="0"/>
            <a:chExt cx="1554480" cy="6583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225296" y="0"/>
                  </a:lnTo>
                  <a:cubicBezTo>
                    <a:pt x="1407160" y="0"/>
                    <a:pt x="1554480" y="147320"/>
                    <a:pt x="1554480" y="329184"/>
                  </a:cubicBezTo>
                  <a:cubicBezTo>
                    <a:pt x="1554480" y="511048"/>
                    <a:pt x="1407160" y="658368"/>
                    <a:pt x="12252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F6FB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36908" y="6240780"/>
            <a:ext cx="1165860" cy="493776"/>
            <a:chOff x="0" y="0"/>
            <a:chExt cx="1554480" cy="6583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554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DC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181076" y="6240780"/>
            <a:ext cx="3867912" cy="690525"/>
            <a:chOff x="0" y="0"/>
            <a:chExt cx="5157216" cy="920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57216" cy="920700"/>
            </a:xfrm>
            <a:custGeom>
              <a:avLst/>
              <a:gdLst/>
              <a:ahLst/>
              <a:cxnLst/>
              <a:rect r="r" b="b" t="t" l="l"/>
              <a:pathLst>
                <a:path h="920700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920700"/>
                  </a:lnTo>
                  <a:lnTo>
                    <a:pt x="0" y="920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89" r="0" b="-448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157216" cy="930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/api/disponibilidad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36908" y="6899148"/>
            <a:ext cx="1165860" cy="493776"/>
            <a:chOff x="0" y="0"/>
            <a:chExt cx="1554480" cy="6583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225296" y="0"/>
                  </a:lnTo>
                  <a:cubicBezTo>
                    <a:pt x="1407160" y="0"/>
                    <a:pt x="1554480" y="147320"/>
                    <a:pt x="1554480" y="329184"/>
                  </a:cubicBezTo>
                  <a:cubicBezTo>
                    <a:pt x="1554480" y="511048"/>
                    <a:pt x="1407160" y="658368"/>
                    <a:pt x="12252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E3E6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836908" y="6899148"/>
            <a:ext cx="1165860" cy="493776"/>
            <a:chOff x="0" y="0"/>
            <a:chExt cx="1554480" cy="6583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554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DC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PATCH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181076" y="6899148"/>
            <a:ext cx="3867912" cy="493776"/>
            <a:chOff x="0" y="0"/>
            <a:chExt cx="5157216" cy="6583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57216" cy="658368"/>
            </a:xfrm>
            <a:custGeom>
              <a:avLst/>
              <a:gdLst/>
              <a:ahLst/>
              <a:cxnLst/>
              <a:rect r="r" b="b" t="t" l="l"/>
              <a:pathLst>
                <a:path h="658368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5157216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/api/disponibilidad/:id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36908" y="7557516"/>
            <a:ext cx="1165860" cy="493776"/>
            <a:chOff x="0" y="0"/>
            <a:chExt cx="1554480" cy="6583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225296" y="0"/>
                  </a:lnTo>
                  <a:cubicBezTo>
                    <a:pt x="1407160" y="0"/>
                    <a:pt x="1554480" y="147320"/>
                    <a:pt x="1554480" y="329184"/>
                  </a:cubicBezTo>
                  <a:cubicBezTo>
                    <a:pt x="1554480" y="511048"/>
                    <a:pt x="1407160" y="658368"/>
                    <a:pt x="12252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F6FB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836908" y="7557516"/>
            <a:ext cx="1165860" cy="493776"/>
            <a:chOff x="0" y="0"/>
            <a:chExt cx="1554480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554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DC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DELETE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181076" y="7557516"/>
            <a:ext cx="3867912" cy="493776"/>
            <a:chOff x="0" y="0"/>
            <a:chExt cx="5157216" cy="6583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57216" cy="658368"/>
            </a:xfrm>
            <a:custGeom>
              <a:avLst/>
              <a:gdLst/>
              <a:ahLst/>
              <a:cxnLst/>
              <a:rect r="r" b="b" t="t" l="l"/>
              <a:pathLst>
                <a:path h="658368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5157216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/api/disponibilidad/:id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20323" y="5269420"/>
            <a:ext cx="9034655" cy="3484785"/>
            <a:chOff x="0" y="0"/>
            <a:chExt cx="15475749" cy="596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475748" cy="5969200"/>
            </a:xfrm>
            <a:custGeom>
              <a:avLst/>
              <a:gdLst/>
              <a:ahLst/>
              <a:cxnLst/>
              <a:rect r="r" b="b" t="t" l="l"/>
              <a:pathLst>
                <a:path h="5969200" w="15475748">
                  <a:moveTo>
                    <a:pt x="0" y="132591"/>
                  </a:moveTo>
                  <a:cubicBezTo>
                    <a:pt x="0" y="59351"/>
                    <a:pt x="83024" y="0"/>
                    <a:pt x="185474" y="0"/>
                  </a:cubicBezTo>
                  <a:lnTo>
                    <a:pt x="15290274" y="0"/>
                  </a:lnTo>
                  <a:cubicBezTo>
                    <a:pt x="15392726" y="0"/>
                    <a:pt x="15475748" y="59351"/>
                    <a:pt x="15475748" y="132591"/>
                  </a:cubicBezTo>
                  <a:lnTo>
                    <a:pt x="15475748" y="5836610"/>
                  </a:lnTo>
                  <a:cubicBezTo>
                    <a:pt x="15475748" y="5909849"/>
                    <a:pt x="15392726" y="5969200"/>
                    <a:pt x="15290274" y="5969200"/>
                  </a:cubicBezTo>
                  <a:lnTo>
                    <a:pt x="185474" y="5969200"/>
                  </a:lnTo>
                  <a:cubicBezTo>
                    <a:pt x="83024" y="5969200"/>
                    <a:pt x="0" y="5909849"/>
                    <a:pt x="0" y="58366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46718" y="5293700"/>
            <a:ext cx="9008260" cy="661939"/>
            <a:chOff x="0" y="0"/>
            <a:chExt cx="15430536" cy="11338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43053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430536">
                  <a:moveTo>
                    <a:pt x="0" y="128016"/>
                  </a:moveTo>
                  <a:cubicBezTo>
                    <a:pt x="0" y="57277"/>
                    <a:pt x="82611" y="0"/>
                    <a:pt x="184639" y="0"/>
                  </a:cubicBezTo>
                  <a:lnTo>
                    <a:pt x="15245897" y="0"/>
                  </a:lnTo>
                  <a:cubicBezTo>
                    <a:pt x="15347925" y="0"/>
                    <a:pt x="15430536" y="57277"/>
                    <a:pt x="15430536" y="128016"/>
                  </a:cubicBezTo>
                  <a:lnTo>
                    <a:pt x="15430536" y="1005840"/>
                  </a:lnTo>
                  <a:cubicBezTo>
                    <a:pt x="15430536" y="1076579"/>
                    <a:pt x="15347925" y="1133856"/>
                    <a:pt x="15245897" y="1133856"/>
                  </a:cubicBezTo>
                  <a:lnTo>
                    <a:pt x="184639" y="1133856"/>
                  </a:lnTo>
                  <a:cubicBezTo>
                    <a:pt x="82611" y="1133856"/>
                    <a:pt x="0" y="1076579"/>
                    <a:pt x="0" y="1005840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46718" y="5624669"/>
            <a:ext cx="6789787" cy="330969"/>
            <a:chOff x="0" y="0"/>
            <a:chExt cx="11630443" cy="5669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630443" cy="566928"/>
            </a:xfrm>
            <a:custGeom>
              <a:avLst/>
              <a:gdLst/>
              <a:ahLst/>
              <a:cxnLst/>
              <a:rect r="r" b="b" t="t" l="l"/>
              <a:pathLst>
                <a:path h="566928" w="11630443">
                  <a:moveTo>
                    <a:pt x="0" y="0"/>
                  </a:moveTo>
                  <a:lnTo>
                    <a:pt x="11630443" y="0"/>
                  </a:lnTo>
                  <a:lnTo>
                    <a:pt x="11630443" y="566928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956478" y="5245402"/>
            <a:ext cx="1918087" cy="827985"/>
            <a:chOff x="0" y="0"/>
            <a:chExt cx="3285553" cy="14182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285553" cy="1418282"/>
            </a:xfrm>
            <a:custGeom>
              <a:avLst/>
              <a:gdLst/>
              <a:ahLst/>
              <a:cxnLst/>
              <a:rect r="r" b="b" t="t" l="l"/>
              <a:pathLst>
                <a:path h="1418282" w="3285553">
                  <a:moveTo>
                    <a:pt x="0" y="0"/>
                  </a:moveTo>
                  <a:lnTo>
                    <a:pt x="3285553" y="0"/>
                  </a:lnTo>
                  <a:lnTo>
                    <a:pt x="3285553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-169960" b="-6182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328555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Rol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68488" y="6097251"/>
            <a:ext cx="3530689" cy="525996"/>
            <a:chOff x="0" y="0"/>
            <a:chExt cx="6047830" cy="9009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Medico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768488" y="6802752"/>
            <a:ext cx="3530689" cy="525996"/>
            <a:chOff x="0" y="0"/>
            <a:chExt cx="6047830" cy="9009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Administrador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578843" y="5210677"/>
            <a:ext cx="1918087" cy="827985"/>
            <a:chOff x="0" y="0"/>
            <a:chExt cx="3285553" cy="141828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285553" cy="1418282"/>
            </a:xfrm>
            <a:custGeom>
              <a:avLst/>
              <a:gdLst/>
              <a:ahLst/>
              <a:cxnLst/>
              <a:rect r="r" b="b" t="t" l="l"/>
              <a:pathLst>
                <a:path h="1418282" w="3285553">
                  <a:moveTo>
                    <a:pt x="0" y="0"/>
                  </a:moveTo>
                  <a:lnTo>
                    <a:pt x="3285553" y="0"/>
                  </a:lnTo>
                  <a:lnTo>
                    <a:pt x="3285553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-169960" b="-6182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328555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Acceso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538268" y="5210677"/>
            <a:ext cx="2616710" cy="827985"/>
            <a:chOff x="0" y="0"/>
            <a:chExt cx="4482247" cy="141828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82247" cy="1418282"/>
            </a:xfrm>
            <a:custGeom>
              <a:avLst/>
              <a:gdLst/>
              <a:ahLst/>
              <a:cxnLst/>
              <a:rect r="r" b="b" t="t" l="l"/>
              <a:pathLst>
                <a:path h="1418282" w="4482247">
                  <a:moveTo>
                    <a:pt x="0" y="0"/>
                  </a:moveTo>
                  <a:lnTo>
                    <a:pt x="4482247" y="0"/>
                  </a:lnTo>
                  <a:lnTo>
                    <a:pt x="4482247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-97884" b="-6182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4482247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Alcance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050209" y="6113451"/>
            <a:ext cx="2497738" cy="576934"/>
            <a:chOff x="0" y="0"/>
            <a:chExt cx="23100341" cy="533577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3100340" cy="5335774"/>
            </a:xfrm>
            <a:custGeom>
              <a:avLst/>
              <a:gdLst/>
              <a:ahLst/>
              <a:cxnLst/>
              <a:rect r="r" b="b" t="t" l="l"/>
              <a:pathLst>
                <a:path h="5335774" w="23100340">
                  <a:moveTo>
                    <a:pt x="0" y="324731"/>
                  </a:moveTo>
                  <a:cubicBezTo>
                    <a:pt x="0" y="145492"/>
                    <a:pt x="60023" y="0"/>
                    <a:pt x="133968" y="0"/>
                  </a:cubicBezTo>
                  <a:lnTo>
                    <a:pt x="22966373" y="0"/>
                  </a:lnTo>
                  <a:cubicBezTo>
                    <a:pt x="23040318" y="0"/>
                    <a:pt x="23100340" y="145492"/>
                    <a:pt x="23100340" y="324731"/>
                  </a:cubicBezTo>
                  <a:lnTo>
                    <a:pt x="23100340" y="5011043"/>
                  </a:lnTo>
                  <a:cubicBezTo>
                    <a:pt x="23100340" y="5190282"/>
                    <a:pt x="23040318" y="5335774"/>
                    <a:pt x="22966373" y="5335774"/>
                  </a:cubicBezTo>
                  <a:lnTo>
                    <a:pt x="133968" y="5335774"/>
                  </a:lnTo>
                  <a:cubicBezTo>
                    <a:pt x="6002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7050209" y="6845495"/>
            <a:ext cx="2497738" cy="548845"/>
            <a:chOff x="0" y="0"/>
            <a:chExt cx="24282553" cy="533577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28255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4282552">
                  <a:moveTo>
                    <a:pt x="0" y="324731"/>
                  </a:moveTo>
                  <a:cubicBezTo>
                    <a:pt x="0" y="145492"/>
                    <a:pt x="63095" y="0"/>
                    <a:pt x="140824" y="0"/>
                  </a:cubicBezTo>
                  <a:lnTo>
                    <a:pt x="24141728" y="0"/>
                  </a:lnTo>
                  <a:cubicBezTo>
                    <a:pt x="24219458" y="0"/>
                    <a:pt x="24282552" y="145492"/>
                    <a:pt x="24282552" y="324731"/>
                  </a:cubicBezTo>
                  <a:lnTo>
                    <a:pt x="24282552" y="5011043"/>
                  </a:lnTo>
                  <a:cubicBezTo>
                    <a:pt x="24282552" y="5190282"/>
                    <a:pt x="24219458" y="5335774"/>
                    <a:pt x="24141728" y="5335774"/>
                  </a:cubicBezTo>
                  <a:lnTo>
                    <a:pt x="140824" y="5335774"/>
                  </a:lnTo>
                  <a:cubicBezTo>
                    <a:pt x="63095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87" id="87"/>
          <p:cNvSpPr txBox="true"/>
          <p:nvPr/>
        </p:nvSpPr>
        <p:spPr>
          <a:xfrm rot="0">
            <a:off x="7336306" y="6094186"/>
            <a:ext cx="1838190" cy="56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4"/>
              </a:lnSpc>
            </a:pPr>
            <a:r>
              <a:rPr lang="en-US" sz="161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Solo su propio horario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7103107" y="6861294"/>
            <a:ext cx="2457259" cy="53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9"/>
              </a:lnSpc>
            </a:pPr>
            <a:r>
              <a:rPr lang="en-US" sz="1513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Cualquier médico (requiere idMedico)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7034118" y="7514142"/>
            <a:ext cx="2513829" cy="452552"/>
            <a:chOff x="0" y="0"/>
            <a:chExt cx="29639065" cy="533577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91" id="91"/>
          <p:cNvSpPr txBox="true"/>
          <p:nvPr/>
        </p:nvSpPr>
        <p:spPr>
          <a:xfrm rot="0">
            <a:off x="7233801" y="7666461"/>
            <a:ext cx="2114464" cy="27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5"/>
              </a:lnSpc>
            </a:pPr>
            <a:r>
              <a:rPr lang="en-US" sz="15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768488" y="7464822"/>
            <a:ext cx="3530689" cy="525996"/>
            <a:chOff x="0" y="0"/>
            <a:chExt cx="6047830" cy="90099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Recepcionista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541611" y="6097251"/>
            <a:ext cx="3530689" cy="525996"/>
            <a:chOff x="0" y="0"/>
            <a:chExt cx="6047830" cy="90099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Permitido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541611" y="6802752"/>
            <a:ext cx="3530689" cy="525996"/>
            <a:chOff x="0" y="0"/>
            <a:chExt cx="6047830" cy="90099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Permitido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541611" y="7477420"/>
            <a:ext cx="3530689" cy="525996"/>
            <a:chOff x="0" y="0"/>
            <a:chExt cx="6047830" cy="90099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Permitido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050209" y="8063135"/>
            <a:ext cx="2497738" cy="576934"/>
            <a:chOff x="0" y="0"/>
            <a:chExt cx="23100341" cy="533577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3100340" cy="5335774"/>
            </a:xfrm>
            <a:custGeom>
              <a:avLst/>
              <a:gdLst/>
              <a:ahLst/>
              <a:cxnLst/>
              <a:rect r="r" b="b" t="t" l="l"/>
              <a:pathLst>
                <a:path h="5335774" w="23100340">
                  <a:moveTo>
                    <a:pt x="0" y="324731"/>
                  </a:moveTo>
                  <a:cubicBezTo>
                    <a:pt x="0" y="145492"/>
                    <a:pt x="60023" y="0"/>
                    <a:pt x="133968" y="0"/>
                  </a:cubicBezTo>
                  <a:lnTo>
                    <a:pt x="22966373" y="0"/>
                  </a:lnTo>
                  <a:cubicBezTo>
                    <a:pt x="23040318" y="0"/>
                    <a:pt x="23100340" y="145492"/>
                    <a:pt x="23100340" y="324731"/>
                  </a:cubicBezTo>
                  <a:lnTo>
                    <a:pt x="23100340" y="5011043"/>
                  </a:lnTo>
                  <a:cubicBezTo>
                    <a:pt x="23100340" y="5190282"/>
                    <a:pt x="23040318" y="5335774"/>
                    <a:pt x="22966373" y="5335774"/>
                  </a:cubicBezTo>
                  <a:lnTo>
                    <a:pt x="133968" y="5335774"/>
                  </a:lnTo>
                  <a:cubicBezTo>
                    <a:pt x="6002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106" id="106"/>
          <p:cNvSpPr txBox="true"/>
          <p:nvPr/>
        </p:nvSpPr>
        <p:spPr>
          <a:xfrm rot="0">
            <a:off x="7248613" y="8270463"/>
            <a:ext cx="2100929" cy="31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768488" y="8136766"/>
            <a:ext cx="3530689" cy="525996"/>
            <a:chOff x="0" y="0"/>
            <a:chExt cx="6047830" cy="90099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Paciente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541611" y="8136766"/>
            <a:ext cx="3530689" cy="525996"/>
            <a:chOff x="0" y="0"/>
            <a:chExt cx="6047830" cy="90099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Paciente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323079" y="1471879"/>
            <a:ext cx="2513829" cy="452552"/>
            <a:chOff x="0" y="0"/>
            <a:chExt cx="29639065" cy="533577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116878" y="1465110"/>
            <a:ext cx="3530689" cy="525996"/>
            <a:chOff x="0" y="0"/>
            <a:chExt cx="6047830" cy="90099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HU-13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B4F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BACKEND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483" y="0"/>
            <a:ext cx="16596360" cy="3989394"/>
            <a:chOff x="0" y="0"/>
            <a:chExt cx="22128480" cy="5319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67" r="0" b="60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</a:t>
              </a: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isponibilidad médica</a:t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2910" y="9851984"/>
            <a:ext cx="6858000" cy="416573"/>
            <a:chOff x="0" y="0"/>
            <a:chExt cx="9144000" cy="555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555430"/>
            </a:xfrm>
            <a:custGeom>
              <a:avLst/>
              <a:gdLst/>
              <a:ahLst/>
              <a:cxnLst/>
              <a:rect r="r" b="b" t="t" l="l"/>
              <a:pathLst>
                <a:path h="55543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5430"/>
                  </a:lnTo>
                  <a:lnTo>
                    <a:pt x="0" y="555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391" r="0" b="-2701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0" cy="58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MedicalSys · Sprint 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276856"/>
            <a:ext cx="16436340" cy="1303020"/>
            <a:chOff x="0" y="0"/>
            <a:chExt cx="2191512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15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915120">
                  <a:moveTo>
                    <a:pt x="0" y="146304"/>
                  </a:moveTo>
                  <a:cubicBezTo>
                    <a:pt x="0" y="65532"/>
                    <a:pt x="307958" y="0"/>
                    <a:pt x="687533" y="0"/>
                  </a:cubicBezTo>
                  <a:lnTo>
                    <a:pt x="21227586" y="0"/>
                  </a:lnTo>
                  <a:cubicBezTo>
                    <a:pt x="21607162" y="0"/>
                    <a:pt x="21915120" y="65532"/>
                    <a:pt x="21915120" y="146304"/>
                  </a:cubicBezTo>
                  <a:lnTo>
                    <a:pt x="21915120" y="1591056"/>
                  </a:lnTo>
                  <a:cubicBezTo>
                    <a:pt x="21915120" y="1671828"/>
                    <a:pt x="21607163" y="1737360"/>
                    <a:pt x="21227586" y="1737360"/>
                  </a:cubicBezTo>
                  <a:lnTo>
                    <a:pt x="687533" y="1737360"/>
                  </a:lnTo>
                  <a:cubicBezTo>
                    <a:pt x="307958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04716" y="4370652"/>
            <a:ext cx="790346" cy="790346"/>
            <a:chOff x="0" y="0"/>
            <a:chExt cx="841248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82544" y="4548480"/>
            <a:ext cx="434690" cy="434690"/>
            <a:chOff x="0" y="0"/>
            <a:chExt cx="462686" cy="462686"/>
          </a:xfrm>
        </p:grpSpPr>
        <p:sp>
          <p:nvSpPr>
            <p:cNvPr name="Freeform 19" id="19" descr="/home/claude/medicalsys_pptx/icons/shield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25428" y="4869180"/>
            <a:ext cx="6035040" cy="3744468"/>
            <a:chOff x="0" y="0"/>
            <a:chExt cx="8046720" cy="49926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0" cy="4992624"/>
            </a:xfrm>
            <a:custGeom>
              <a:avLst/>
              <a:gdLst/>
              <a:ahLst/>
              <a:cxnLst/>
              <a:rect r="r" b="b" t="t" l="l"/>
              <a:pathLst>
                <a:path h="4992624" w="8046720">
                  <a:moveTo>
                    <a:pt x="0" y="110947"/>
                  </a:moveTo>
                  <a:cubicBezTo>
                    <a:pt x="0" y="49640"/>
                    <a:pt x="57277" y="0"/>
                    <a:pt x="128016" y="0"/>
                  </a:cubicBezTo>
                  <a:lnTo>
                    <a:pt x="7918704" y="0"/>
                  </a:lnTo>
                  <a:cubicBezTo>
                    <a:pt x="7989443" y="0"/>
                    <a:pt x="8046720" y="49640"/>
                    <a:pt x="8046720" y="110947"/>
                  </a:cubicBezTo>
                  <a:lnTo>
                    <a:pt x="8046720" y="4881677"/>
                  </a:lnTo>
                  <a:cubicBezTo>
                    <a:pt x="8046720" y="4942984"/>
                    <a:pt x="7989443" y="4992624"/>
                    <a:pt x="7918704" y="4992624"/>
                  </a:cubicBezTo>
                  <a:lnTo>
                    <a:pt x="128016" y="4992624"/>
                  </a:lnTo>
                  <a:cubicBezTo>
                    <a:pt x="57277" y="4992624"/>
                    <a:pt x="0" y="4942984"/>
                    <a:pt x="0" y="4881677"/>
                  </a:cubicBezTo>
                  <a:close/>
                </a:path>
              </a:pathLst>
            </a:custGeom>
            <a:solidFill>
              <a:srgbClr val="0730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181076" y="4548480"/>
            <a:ext cx="4526280" cy="1651797"/>
            <a:chOff x="0" y="0"/>
            <a:chExt cx="6035040" cy="22023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5040" cy="2202396"/>
            </a:xfrm>
            <a:custGeom>
              <a:avLst/>
              <a:gdLst/>
              <a:ahLst/>
              <a:cxnLst/>
              <a:rect r="r" b="b" t="t" l="l"/>
              <a:pathLst>
                <a:path h="220239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03" r="0" b="250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03504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Edicion y baja logica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605004" y="6096464"/>
            <a:ext cx="3867912" cy="1876238"/>
            <a:chOff x="0" y="0"/>
            <a:chExt cx="5157216" cy="25016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7216" cy="2501651"/>
            </a:xfrm>
            <a:custGeom>
              <a:avLst/>
              <a:gdLst/>
              <a:ahLst/>
              <a:cxnLst/>
              <a:rect r="r" b="b" t="t" l="l"/>
              <a:pathLst>
                <a:path h="2501651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2501651"/>
                  </a:lnTo>
                  <a:lnTo>
                    <a:pt x="0" y="2501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0" r="0" b="4667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57216" cy="2511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 médico </a:t>
              </a:r>
              <a:r>
                <a:rPr lang="en-US" sz="18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puede editar o desactivar (activo=false) sus propios horarios; nunca los de otro médico (403), salvo que sea el Administrador.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0323" y="5293700"/>
            <a:ext cx="9034655" cy="3484785"/>
            <a:chOff x="0" y="0"/>
            <a:chExt cx="15475749" cy="596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475748" cy="5969200"/>
            </a:xfrm>
            <a:custGeom>
              <a:avLst/>
              <a:gdLst/>
              <a:ahLst/>
              <a:cxnLst/>
              <a:rect r="r" b="b" t="t" l="l"/>
              <a:pathLst>
                <a:path h="5969200" w="15475748">
                  <a:moveTo>
                    <a:pt x="0" y="132591"/>
                  </a:moveTo>
                  <a:cubicBezTo>
                    <a:pt x="0" y="59351"/>
                    <a:pt x="83024" y="0"/>
                    <a:pt x="185474" y="0"/>
                  </a:cubicBezTo>
                  <a:lnTo>
                    <a:pt x="15290274" y="0"/>
                  </a:lnTo>
                  <a:cubicBezTo>
                    <a:pt x="15392726" y="0"/>
                    <a:pt x="15475748" y="59351"/>
                    <a:pt x="15475748" y="132591"/>
                  </a:cubicBezTo>
                  <a:lnTo>
                    <a:pt x="15475748" y="5836610"/>
                  </a:lnTo>
                  <a:cubicBezTo>
                    <a:pt x="15475748" y="5909849"/>
                    <a:pt x="15392726" y="5969200"/>
                    <a:pt x="15290274" y="5969200"/>
                  </a:cubicBezTo>
                  <a:lnTo>
                    <a:pt x="185474" y="5969200"/>
                  </a:lnTo>
                  <a:cubicBezTo>
                    <a:pt x="83024" y="5969200"/>
                    <a:pt x="0" y="5909849"/>
                    <a:pt x="0" y="58366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46718" y="5293700"/>
            <a:ext cx="9008260" cy="661939"/>
            <a:chOff x="0" y="0"/>
            <a:chExt cx="15430536" cy="1133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43053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430536">
                  <a:moveTo>
                    <a:pt x="0" y="128016"/>
                  </a:moveTo>
                  <a:cubicBezTo>
                    <a:pt x="0" y="57277"/>
                    <a:pt x="82611" y="0"/>
                    <a:pt x="184639" y="0"/>
                  </a:cubicBezTo>
                  <a:lnTo>
                    <a:pt x="15245897" y="0"/>
                  </a:lnTo>
                  <a:cubicBezTo>
                    <a:pt x="15347925" y="0"/>
                    <a:pt x="15430536" y="57277"/>
                    <a:pt x="15430536" y="128016"/>
                  </a:cubicBezTo>
                  <a:lnTo>
                    <a:pt x="15430536" y="1005840"/>
                  </a:lnTo>
                  <a:cubicBezTo>
                    <a:pt x="15430536" y="1076579"/>
                    <a:pt x="15347925" y="1133856"/>
                    <a:pt x="15245897" y="1133856"/>
                  </a:cubicBezTo>
                  <a:lnTo>
                    <a:pt x="184639" y="1133856"/>
                  </a:lnTo>
                  <a:cubicBezTo>
                    <a:pt x="82611" y="1133856"/>
                    <a:pt x="0" y="1076579"/>
                    <a:pt x="0" y="1005840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46718" y="5624669"/>
            <a:ext cx="6789787" cy="330969"/>
            <a:chOff x="0" y="0"/>
            <a:chExt cx="11630443" cy="5669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630443" cy="566928"/>
            </a:xfrm>
            <a:custGeom>
              <a:avLst/>
              <a:gdLst/>
              <a:ahLst/>
              <a:cxnLst/>
              <a:rect r="r" b="b" t="t" l="l"/>
              <a:pathLst>
                <a:path h="566928" w="11630443">
                  <a:moveTo>
                    <a:pt x="0" y="0"/>
                  </a:moveTo>
                  <a:lnTo>
                    <a:pt x="11630443" y="0"/>
                  </a:lnTo>
                  <a:lnTo>
                    <a:pt x="11630443" y="566928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56478" y="5313919"/>
            <a:ext cx="6794954" cy="827985"/>
            <a:chOff x="0" y="0"/>
            <a:chExt cx="11639293" cy="14182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639294" cy="1418282"/>
            </a:xfrm>
            <a:custGeom>
              <a:avLst/>
              <a:gdLst/>
              <a:ahLst/>
              <a:cxnLst/>
              <a:rect r="r" b="b" t="t" l="l"/>
              <a:pathLst>
                <a:path h="1418282" w="11639294">
                  <a:moveTo>
                    <a:pt x="0" y="0"/>
                  </a:moveTo>
                  <a:lnTo>
                    <a:pt x="11639294" y="0"/>
                  </a:lnTo>
                  <a:lnTo>
                    <a:pt x="11639294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23795" b="-6182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163929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Reglas de negocio validadas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33744" y="6096464"/>
            <a:ext cx="8007813" cy="2592921"/>
            <a:chOff x="0" y="0"/>
            <a:chExt cx="13716838" cy="44414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716839" cy="4441497"/>
            </a:xfrm>
            <a:custGeom>
              <a:avLst/>
              <a:gdLst/>
              <a:ahLst/>
              <a:cxnLst/>
              <a:rect r="r" b="b" t="t" l="l"/>
              <a:pathLst>
                <a:path h="4441497" w="13716839">
                  <a:moveTo>
                    <a:pt x="0" y="0"/>
                  </a:moveTo>
                  <a:lnTo>
                    <a:pt x="13716839" y="0"/>
                  </a:lnTo>
                  <a:lnTo>
                    <a:pt x="13716839" y="4441497"/>
                  </a:lnTo>
                  <a:lnTo>
                    <a:pt x="0" y="44414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59" r="59442" b="6694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3716838" cy="4451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diaSemana debe ser un entero entre 1 y 7.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horaInicio debe ser anterior a horaFin.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No se permiten horarios solapados para el mismo médico en el mismo día (HTTP 409 si ya existe un cruce).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El administrador está obligado a indicar idMedico; sin eso, se rechaza (400).</a:t>
              </a:r>
            </a:p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23079" y="1471879"/>
            <a:ext cx="2513829" cy="452552"/>
            <a:chOff x="0" y="0"/>
            <a:chExt cx="29639065" cy="533577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116878" y="1465110"/>
            <a:ext cx="3530689" cy="525996"/>
            <a:chOff x="0" y="0"/>
            <a:chExt cx="6047830" cy="9009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HU-13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04716" y="2535119"/>
            <a:ext cx="9564252" cy="902083"/>
            <a:chOff x="0" y="0"/>
            <a:chExt cx="12752336" cy="120277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752336" cy="1202777"/>
            </a:xfrm>
            <a:custGeom>
              <a:avLst/>
              <a:gdLst/>
              <a:ahLst/>
              <a:cxnLst/>
              <a:rect r="r" b="b" t="t" l="l"/>
              <a:pathLst>
                <a:path h="1202777" w="12752336">
                  <a:moveTo>
                    <a:pt x="0" y="0"/>
                  </a:moveTo>
                  <a:lnTo>
                    <a:pt x="12752336" y="0"/>
                  </a:lnTo>
                  <a:lnTo>
                    <a:pt x="12752336" y="1202777"/>
                  </a:lnTo>
                  <a:lnTo>
                    <a:pt x="0" y="120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178" r="59558" b="-109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2752336" cy="1212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Todos los endpoints estan protegidos bajo el permiso de DISPONIBILIDAD_GESTIONAR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B4F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BACKEND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483" y="0"/>
            <a:ext cx="16596360" cy="3989394"/>
            <a:chOff x="0" y="0"/>
            <a:chExt cx="22128480" cy="5319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67" r="0" b="60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Consultar disponibilidad médica</a:t>
              </a: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/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2910" y="9851984"/>
            <a:ext cx="6858000" cy="416573"/>
            <a:chOff x="0" y="0"/>
            <a:chExt cx="9144000" cy="555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555430"/>
            </a:xfrm>
            <a:custGeom>
              <a:avLst/>
              <a:gdLst/>
              <a:ahLst/>
              <a:cxnLst/>
              <a:rect r="r" b="b" t="t" l="l"/>
              <a:pathLst>
                <a:path h="55543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5430"/>
                  </a:lnTo>
                  <a:lnTo>
                    <a:pt x="0" y="555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391" r="0" b="-2701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0" cy="58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MedicalSys · Sprint 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276856"/>
            <a:ext cx="16436340" cy="1303020"/>
            <a:chOff x="0" y="0"/>
            <a:chExt cx="2191512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15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915120">
                  <a:moveTo>
                    <a:pt x="0" y="146304"/>
                  </a:moveTo>
                  <a:cubicBezTo>
                    <a:pt x="0" y="65532"/>
                    <a:pt x="307958" y="0"/>
                    <a:pt x="687533" y="0"/>
                  </a:cubicBezTo>
                  <a:lnTo>
                    <a:pt x="21227586" y="0"/>
                  </a:lnTo>
                  <a:cubicBezTo>
                    <a:pt x="21607162" y="0"/>
                    <a:pt x="21915120" y="65532"/>
                    <a:pt x="21915120" y="146304"/>
                  </a:cubicBezTo>
                  <a:lnTo>
                    <a:pt x="21915120" y="1591056"/>
                  </a:lnTo>
                  <a:cubicBezTo>
                    <a:pt x="21915120" y="1671828"/>
                    <a:pt x="21607163" y="1737360"/>
                    <a:pt x="21227586" y="1737360"/>
                  </a:cubicBezTo>
                  <a:lnTo>
                    <a:pt x="687533" y="1737360"/>
                  </a:lnTo>
                  <a:cubicBezTo>
                    <a:pt x="307958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24521" y="2562277"/>
            <a:ext cx="14835123" cy="732179"/>
            <a:chOff x="0" y="0"/>
            <a:chExt cx="19780164" cy="9762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780165" cy="976238"/>
            </a:xfrm>
            <a:custGeom>
              <a:avLst/>
              <a:gdLst/>
              <a:ahLst/>
              <a:cxnLst/>
              <a:rect r="r" b="b" t="t" l="l"/>
              <a:pathLst>
                <a:path h="976238" w="19780165">
                  <a:moveTo>
                    <a:pt x="0" y="0"/>
                  </a:moveTo>
                  <a:lnTo>
                    <a:pt x="19780165" y="0"/>
                  </a:lnTo>
                  <a:lnTo>
                    <a:pt x="19780165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106" r="76423" b="-230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780164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Cualquier usuario autenticado consulta los horarios disponibles de los médicos, filtrando por médico, especialidad o día. El médico ve su propia agenda por defecto si no aplica filtros.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5246" y="3886200"/>
            <a:ext cx="16637508" cy="411480"/>
            <a:chOff x="0" y="0"/>
            <a:chExt cx="22183344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83344" cy="548640"/>
            </a:xfrm>
            <a:custGeom>
              <a:avLst/>
              <a:gdLst/>
              <a:ahLst/>
              <a:cxnLst/>
              <a:rect r="r" b="b" t="t" l="l"/>
              <a:pathLst>
                <a:path h="5486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45" r="0" b="-7378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218334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Separación estricta de responsabilidades en cada capa del backend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04716" y="4370652"/>
            <a:ext cx="790346" cy="790346"/>
            <a:chOff x="0" y="0"/>
            <a:chExt cx="841248" cy="8412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82544" y="4548480"/>
            <a:ext cx="434690" cy="434690"/>
            <a:chOff x="0" y="0"/>
            <a:chExt cx="462686" cy="462686"/>
          </a:xfrm>
        </p:grpSpPr>
        <p:sp>
          <p:nvSpPr>
            <p:cNvPr name="Freeform 25" id="25" descr="/home/claude/medicalsys_pptx/icons/shield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703104" y="3727355"/>
            <a:ext cx="10738393" cy="2009331"/>
            <a:chOff x="0" y="0"/>
            <a:chExt cx="11430000" cy="21387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30000" cy="2138742"/>
            </a:xfrm>
            <a:custGeom>
              <a:avLst/>
              <a:gdLst/>
              <a:ahLst/>
              <a:cxnLst/>
              <a:rect r="r" b="b" t="t" l="l"/>
              <a:pathLst>
                <a:path h="2138742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2138742"/>
                  </a:lnTo>
                  <a:lnTo>
                    <a:pt x="0" y="21387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901" r="0" b="-2636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1430000" cy="2138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Accesos por rol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425428" y="4869180"/>
            <a:ext cx="6035040" cy="3744468"/>
            <a:chOff x="0" y="0"/>
            <a:chExt cx="8046720" cy="49926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46720" cy="4992624"/>
            </a:xfrm>
            <a:custGeom>
              <a:avLst/>
              <a:gdLst/>
              <a:ahLst/>
              <a:cxnLst/>
              <a:rect r="r" b="b" t="t" l="l"/>
              <a:pathLst>
                <a:path h="4992624" w="8046720">
                  <a:moveTo>
                    <a:pt x="0" y="110947"/>
                  </a:moveTo>
                  <a:cubicBezTo>
                    <a:pt x="0" y="49640"/>
                    <a:pt x="57277" y="0"/>
                    <a:pt x="128016" y="0"/>
                  </a:cubicBezTo>
                  <a:lnTo>
                    <a:pt x="7918704" y="0"/>
                  </a:lnTo>
                  <a:cubicBezTo>
                    <a:pt x="7989443" y="0"/>
                    <a:pt x="8046720" y="49640"/>
                    <a:pt x="8046720" y="110947"/>
                  </a:cubicBezTo>
                  <a:lnTo>
                    <a:pt x="8046720" y="4881677"/>
                  </a:lnTo>
                  <a:cubicBezTo>
                    <a:pt x="8046720" y="4942984"/>
                    <a:pt x="7989443" y="4992624"/>
                    <a:pt x="7918704" y="4992624"/>
                  </a:cubicBezTo>
                  <a:lnTo>
                    <a:pt x="128016" y="4992624"/>
                  </a:lnTo>
                  <a:cubicBezTo>
                    <a:pt x="57277" y="4992624"/>
                    <a:pt x="0" y="4942984"/>
                    <a:pt x="0" y="4881677"/>
                  </a:cubicBezTo>
                  <a:close/>
                </a:path>
              </a:pathLst>
            </a:custGeom>
            <a:solidFill>
              <a:srgbClr val="07304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809476" y="5225796"/>
            <a:ext cx="630936" cy="630936"/>
            <a:chOff x="0" y="0"/>
            <a:chExt cx="841248" cy="8412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999062" y="5354041"/>
            <a:ext cx="347015" cy="347015"/>
            <a:chOff x="0" y="0"/>
            <a:chExt cx="462686" cy="462686"/>
          </a:xfrm>
        </p:grpSpPr>
        <p:sp>
          <p:nvSpPr>
            <p:cNvPr name="Freeform 34" id="34" descr="/home/claude/medicalsys_pptx/icons/plug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659868" y="5170932"/>
            <a:ext cx="4526280" cy="713232"/>
            <a:chOff x="0" y="0"/>
            <a:chExt cx="6035040" cy="9509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35040" cy="950976"/>
            </a:xfrm>
            <a:custGeom>
              <a:avLst/>
              <a:gdLst/>
              <a:ahLst/>
              <a:cxnLst/>
              <a:rect r="r" b="b" t="t" l="l"/>
              <a:pathLst>
                <a:path h="95097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655" r="0" b="-736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035040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Endpoints REST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836908" y="6240780"/>
            <a:ext cx="1165860" cy="493776"/>
            <a:chOff x="0" y="0"/>
            <a:chExt cx="1554480" cy="6583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225296" y="0"/>
                  </a:lnTo>
                  <a:cubicBezTo>
                    <a:pt x="1407160" y="0"/>
                    <a:pt x="1554480" y="147320"/>
                    <a:pt x="1554480" y="329184"/>
                  </a:cubicBezTo>
                  <a:cubicBezTo>
                    <a:pt x="1554480" y="511048"/>
                    <a:pt x="1407160" y="658368"/>
                    <a:pt x="12252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F6FB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36908" y="6240780"/>
            <a:ext cx="1165860" cy="493776"/>
            <a:chOff x="0" y="0"/>
            <a:chExt cx="1554480" cy="6583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554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DC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181076" y="6240780"/>
            <a:ext cx="3867912" cy="690525"/>
            <a:chOff x="0" y="0"/>
            <a:chExt cx="5157216" cy="920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57216" cy="920700"/>
            </a:xfrm>
            <a:custGeom>
              <a:avLst/>
              <a:gdLst/>
              <a:ahLst/>
              <a:cxnLst/>
              <a:rect r="r" b="b" t="t" l="l"/>
              <a:pathLst>
                <a:path h="920700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920700"/>
                  </a:lnTo>
                  <a:lnTo>
                    <a:pt x="0" y="920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89" r="0" b="-448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157216" cy="930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/api/disponibilidad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36908" y="6899148"/>
            <a:ext cx="1165860" cy="493776"/>
            <a:chOff x="0" y="0"/>
            <a:chExt cx="1554480" cy="6583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225296" y="0"/>
                  </a:lnTo>
                  <a:cubicBezTo>
                    <a:pt x="1407160" y="0"/>
                    <a:pt x="1554480" y="147320"/>
                    <a:pt x="1554480" y="329184"/>
                  </a:cubicBezTo>
                  <a:cubicBezTo>
                    <a:pt x="1554480" y="511048"/>
                    <a:pt x="1407160" y="658368"/>
                    <a:pt x="12252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E3E6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836908" y="6899148"/>
            <a:ext cx="1165860" cy="493776"/>
            <a:chOff x="0" y="0"/>
            <a:chExt cx="1554480" cy="6583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554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DC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181076" y="6899148"/>
            <a:ext cx="3867912" cy="493776"/>
            <a:chOff x="0" y="0"/>
            <a:chExt cx="5157216" cy="6583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57216" cy="658368"/>
            </a:xfrm>
            <a:custGeom>
              <a:avLst/>
              <a:gdLst/>
              <a:ahLst/>
              <a:cxnLst/>
              <a:rect r="r" b="b" t="t" l="l"/>
              <a:pathLst>
                <a:path h="658368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5157216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?idMedico=&amp;diaSemana=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36908" y="7557516"/>
            <a:ext cx="1165860" cy="493776"/>
            <a:chOff x="0" y="0"/>
            <a:chExt cx="1554480" cy="6583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225296" y="0"/>
                  </a:lnTo>
                  <a:cubicBezTo>
                    <a:pt x="1407160" y="0"/>
                    <a:pt x="1554480" y="147320"/>
                    <a:pt x="1554480" y="329184"/>
                  </a:cubicBezTo>
                  <a:cubicBezTo>
                    <a:pt x="1554480" y="511048"/>
                    <a:pt x="1407160" y="658368"/>
                    <a:pt x="12252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F6FB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836908" y="7557516"/>
            <a:ext cx="1165860" cy="493776"/>
            <a:chOff x="0" y="0"/>
            <a:chExt cx="1554480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554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DC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181076" y="7557516"/>
            <a:ext cx="3867912" cy="493776"/>
            <a:chOff x="0" y="0"/>
            <a:chExt cx="5157216" cy="6583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57216" cy="658368"/>
            </a:xfrm>
            <a:custGeom>
              <a:avLst/>
              <a:gdLst/>
              <a:ahLst/>
              <a:cxnLst/>
              <a:rect r="r" b="b" t="t" l="l"/>
              <a:pathLst>
                <a:path h="658368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5157216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?idEspecialidad=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20323" y="5269420"/>
            <a:ext cx="9034655" cy="3484785"/>
            <a:chOff x="0" y="0"/>
            <a:chExt cx="15475749" cy="596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475748" cy="5969200"/>
            </a:xfrm>
            <a:custGeom>
              <a:avLst/>
              <a:gdLst/>
              <a:ahLst/>
              <a:cxnLst/>
              <a:rect r="r" b="b" t="t" l="l"/>
              <a:pathLst>
                <a:path h="5969200" w="15475748">
                  <a:moveTo>
                    <a:pt x="0" y="132591"/>
                  </a:moveTo>
                  <a:cubicBezTo>
                    <a:pt x="0" y="59351"/>
                    <a:pt x="83024" y="0"/>
                    <a:pt x="185474" y="0"/>
                  </a:cubicBezTo>
                  <a:lnTo>
                    <a:pt x="15290274" y="0"/>
                  </a:lnTo>
                  <a:cubicBezTo>
                    <a:pt x="15392726" y="0"/>
                    <a:pt x="15475748" y="59351"/>
                    <a:pt x="15475748" y="132591"/>
                  </a:cubicBezTo>
                  <a:lnTo>
                    <a:pt x="15475748" y="5836610"/>
                  </a:lnTo>
                  <a:cubicBezTo>
                    <a:pt x="15475748" y="5909849"/>
                    <a:pt x="15392726" y="5969200"/>
                    <a:pt x="15290274" y="5969200"/>
                  </a:cubicBezTo>
                  <a:lnTo>
                    <a:pt x="185474" y="5969200"/>
                  </a:lnTo>
                  <a:cubicBezTo>
                    <a:pt x="83024" y="5969200"/>
                    <a:pt x="0" y="5909849"/>
                    <a:pt x="0" y="58366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46718" y="5293700"/>
            <a:ext cx="9008260" cy="661939"/>
            <a:chOff x="0" y="0"/>
            <a:chExt cx="15430536" cy="11338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43053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430536">
                  <a:moveTo>
                    <a:pt x="0" y="128016"/>
                  </a:moveTo>
                  <a:cubicBezTo>
                    <a:pt x="0" y="57277"/>
                    <a:pt x="82611" y="0"/>
                    <a:pt x="184639" y="0"/>
                  </a:cubicBezTo>
                  <a:lnTo>
                    <a:pt x="15245897" y="0"/>
                  </a:lnTo>
                  <a:cubicBezTo>
                    <a:pt x="15347925" y="0"/>
                    <a:pt x="15430536" y="57277"/>
                    <a:pt x="15430536" y="128016"/>
                  </a:cubicBezTo>
                  <a:lnTo>
                    <a:pt x="15430536" y="1005840"/>
                  </a:lnTo>
                  <a:cubicBezTo>
                    <a:pt x="15430536" y="1076579"/>
                    <a:pt x="15347925" y="1133856"/>
                    <a:pt x="15245897" y="1133856"/>
                  </a:cubicBezTo>
                  <a:lnTo>
                    <a:pt x="184639" y="1133856"/>
                  </a:lnTo>
                  <a:cubicBezTo>
                    <a:pt x="82611" y="1133856"/>
                    <a:pt x="0" y="1076579"/>
                    <a:pt x="0" y="1005840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46718" y="5624669"/>
            <a:ext cx="6789787" cy="330969"/>
            <a:chOff x="0" y="0"/>
            <a:chExt cx="11630443" cy="5669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630443" cy="566928"/>
            </a:xfrm>
            <a:custGeom>
              <a:avLst/>
              <a:gdLst/>
              <a:ahLst/>
              <a:cxnLst/>
              <a:rect r="r" b="b" t="t" l="l"/>
              <a:pathLst>
                <a:path h="566928" w="11630443">
                  <a:moveTo>
                    <a:pt x="0" y="0"/>
                  </a:moveTo>
                  <a:lnTo>
                    <a:pt x="11630443" y="0"/>
                  </a:lnTo>
                  <a:lnTo>
                    <a:pt x="11630443" y="566928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956478" y="5245402"/>
            <a:ext cx="1918087" cy="827985"/>
            <a:chOff x="0" y="0"/>
            <a:chExt cx="3285553" cy="14182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285553" cy="1418282"/>
            </a:xfrm>
            <a:custGeom>
              <a:avLst/>
              <a:gdLst/>
              <a:ahLst/>
              <a:cxnLst/>
              <a:rect r="r" b="b" t="t" l="l"/>
              <a:pathLst>
                <a:path h="1418282" w="3285553">
                  <a:moveTo>
                    <a:pt x="0" y="0"/>
                  </a:moveTo>
                  <a:lnTo>
                    <a:pt x="3285553" y="0"/>
                  </a:lnTo>
                  <a:lnTo>
                    <a:pt x="3285553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-169960" b="-6182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328555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Rol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68488" y="6097251"/>
            <a:ext cx="3530689" cy="525996"/>
            <a:chOff x="0" y="0"/>
            <a:chExt cx="6047830" cy="9009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Medico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768488" y="6802752"/>
            <a:ext cx="3530689" cy="525996"/>
            <a:chOff x="0" y="0"/>
            <a:chExt cx="6047830" cy="9009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Administrador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578843" y="5210677"/>
            <a:ext cx="1918087" cy="827985"/>
            <a:chOff x="0" y="0"/>
            <a:chExt cx="3285553" cy="141828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285553" cy="1418282"/>
            </a:xfrm>
            <a:custGeom>
              <a:avLst/>
              <a:gdLst/>
              <a:ahLst/>
              <a:cxnLst/>
              <a:rect r="r" b="b" t="t" l="l"/>
              <a:pathLst>
                <a:path h="1418282" w="3285553">
                  <a:moveTo>
                    <a:pt x="0" y="0"/>
                  </a:moveTo>
                  <a:lnTo>
                    <a:pt x="3285553" y="0"/>
                  </a:lnTo>
                  <a:lnTo>
                    <a:pt x="3285553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-169960" b="-6182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328555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Acceso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538268" y="5210677"/>
            <a:ext cx="2616710" cy="827985"/>
            <a:chOff x="0" y="0"/>
            <a:chExt cx="4482247" cy="141828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82247" cy="1418282"/>
            </a:xfrm>
            <a:custGeom>
              <a:avLst/>
              <a:gdLst/>
              <a:ahLst/>
              <a:cxnLst/>
              <a:rect r="r" b="b" t="t" l="l"/>
              <a:pathLst>
                <a:path h="1418282" w="4482247">
                  <a:moveTo>
                    <a:pt x="0" y="0"/>
                  </a:moveTo>
                  <a:lnTo>
                    <a:pt x="4482247" y="0"/>
                  </a:lnTo>
                  <a:lnTo>
                    <a:pt x="4482247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-97884" b="-6182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4482247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Alcance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050209" y="6113451"/>
            <a:ext cx="2497738" cy="576934"/>
            <a:chOff x="0" y="0"/>
            <a:chExt cx="23100341" cy="533577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3100340" cy="5335774"/>
            </a:xfrm>
            <a:custGeom>
              <a:avLst/>
              <a:gdLst/>
              <a:ahLst/>
              <a:cxnLst/>
              <a:rect r="r" b="b" t="t" l="l"/>
              <a:pathLst>
                <a:path h="5335774" w="23100340">
                  <a:moveTo>
                    <a:pt x="0" y="324731"/>
                  </a:moveTo>
                  <a:cubicBezTo>
                    <a:pt x="0" y="145492"/>
                    <a:pt x="60023" y="0"/>
                    <a:pt x="133968" y="0"/>
                  </a:cubicBezTo>
                  <a:lnTo>
                    <a:pt x="22966373" y="0"/>
                  </a:lnTo>
                  <a:cubicBezTo>
                    <a:pt x="23040318" y="0"/>
                    <a:pt x="23100340" y="145492"/>
                    <a:pt x="23100340" y="324731"/>
                  </a:cubicBezTo>
                  <a:lnTo>
                    <a:pt x="23100340" y="5011043"/>
                  </a:lnTo>
                  <a:cubicBezTo>
                    <a:pt x="23100340" y="5190282"/>
                    <a:pt x="23040318" y="5335774"/>
                    <a:pt x="22966373" y="5335774"/>
                  </a:cubicBezTo>
                  <a:lnTo>
                    <a:pt x="133968" y="5335774"/>
                  </a:lnTo>
                  <a:cubicBezTo>
                    <a:pt x="6002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7050209" y="6845495"/>
            <a:ext cx="2497738" cy="548845"/>
            <a:chOff x="0" y="0"/>
            <a:chExt cx="24282553" cy="533577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28255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4282552">
                  <a:moveTo>
                    <a:pt x="0" y="324731"/>
                  </a:moveTo>
                  <a:cubicBezTo>
                    <a:pt x="0" y="145492"/>
                    <a:pt x="63095" y="0"/>
                    <a:pt x="140824" y="0"/>
                  </a:cubicBezTo>
                  <a:lnTo>
                    <a:pt x="24141728" y="0"/>
                  </a:lnTo>
                  <a:cubicBezTo>
                    <a:pt x="24219458" y="0"/>
                    <a:pt x="24282552" y="145492"/>
                    <a:pt x="24282552" y="324731"/>
                  </a:cubicBezTo>
                  <a:lnTo>
                    <a:pt x="24282552" y="5011043"/>
                  </a:lnTo>
                  <a:cubicBezTo>
                    <a:pt x="24282552" y="5190282"/>
                    <a:pt x="24219458" y="5335774"/>
                    <a:pt x="24141728" y="5335774"/>
                  </a:cubicBezTo>
                  <a:lnTo>
                    <a:pt x="140824" y="5335774"/>
                  </a:lnTo>
                  <a:cubicBezTo>
                    <a:pt x="63095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87" id="87"/>
          <p:cNvSpPr txBox="true"/>
          <p:nvPr/>
        </p:nvSpPr>
        <p:spPr>
          <a:xfrm rot="0">
            <a:off x="7336306" y="6094186"/>
            <a:ext cx="1838190" cy="56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4"/>
              </a:lnSpc>
            </a:pPr>
            <a:r>
              <a:rPr lang="en-US" sz="161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Su agenda propia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7103107" y="6861294"/>
            <a:ext cx="2457259" cy="53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9"/>
              </a:lnSpc>
            </a:pPr>
            <a:r>
              <a:rPr lang="en-US" sz="1513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Todas las agendas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7034118" y="7514142"/>
            <a:ext cx="2513829" cy="452552"/>
            <a:chOff x="0" y="0"/>
            <a:chExt cx="29639065" cy="533577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91" id="91"/>
          <p:cNvSpPr txBox="true"/>
          <p:nvPr/>
        </p:nvSpPr>
        <p:spPr>
          <a:xfrm rot="0">
            <a:off x="7233801" y="7666461"/>
            <a:ext cx="2114464" cy="27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5"/>
              </a:lnSpc>
            </a:pPr>
            <a:r>
              <a:rPr lang="en-US" sz="15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Todas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768488" y="7464822"/>
            <a:ext cx="3530689" cy="525996"/>
            <a:chOff x="0" y="0"/>
            <a:chExt cx="6047830" cy="90099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Recepcionista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541611" y="6097251"/>
            <a:ext cx="3530689" cy="525996"/>
            <a:chOff x="0" y="0"/>
            <a:chExt cx="6047830" cy="90099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Permitido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541611" y="6802752"/>
            <a:ext cx="3530689" cy="525996"/>
            <a:chOff x="0" y="0"/>
            <a:chExt cx="6047830" cy="90099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Permitido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541611" y="7477420"/>
            <a:ext cx="3530689" cy="525996"/>
            <a:chOff x="0" y="0"/>
            <a:chExt cx="6047830" cy="90099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Permitido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050209" y="8063135"/>
            <a:ext cx="2497738" cy="576934"/>
            <a:chOff x="0" y="0"/>
            <a:chExt cx="23100341" cy="533577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3100340" cy="5335774"/>
            </a:xfrm>
            <a:custGeom>
              <a:avLst/>
              <a:gdLst/>
              <a:ahLst/>
              <a:cxnLst/>
              <a:rect r="r" b="b" t="t" l="l"/>
              <a:pathLst>
                <a:path h="5335774" w="23100340">
                  <a:moveTo>
                    <a:pt x="0" y="324731"/>
                  </a:moveTo>
                  <a:cubicBezTo>
                    <a:pt x="0" y="145492"/>
                    <a:pt x="60023" y="0"/>
                    <a:pt x="133968" y="0"/>
                  </a:cubicBezTo>
                  <a:lnTo>
                    <a:pt x="22966373" y="0"/>
                  </a:lnTo>
                  <a:cubicBezTo>
                    <a:pt x="23040318" y="0"/>
                    <a:pt x="23100340" y="145492"/>
                    <a:pt x="23100340" y="324731"/>
                  </a:cubicBezTo>
                  <a:lnTo>
                    <a:pt x="23100340" y="5011043"/>
                  </a:lnTo>
                  <a:cubicBezTo>
                    <a:pt x="23100340" y="5190282"/>
                    <a:pt x="23040318" y="5335774"/>
                    <a:pt x="22966373" y="5335774"/>
                  </a:cubicBezTo>
                  <a:lnTo>
                    <a:pt x="133968" y="5335774"/>
                  </a:lnTo>
                  <a:cubicBezTo>
                    <a:pt x="6002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106" id="106"/>
          <p:cNvSpPr txBox="true"/>
          <p:nvPr/>
        </p:nvSpPr>
        <p:spPr>
          <a:xfrm rot="0">
            <a:off x="7248613" y="8270463"/>
            <a:ext cx="2100929" cy="31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Todas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768488" y="8136766"/>
            <a:ext cx="3530689" cy="525996"/>
            <a:chOff x="0" y="0"/>
            <a:chExt cx="6047830" cy="90099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Paciente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541611" y="8136766"/>
            <a:ext cx="3530689" cy="525996"/>
            <a:chOff x="0" y="0"/>
            <a:chExt cx="6047830" cy="90099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Permitido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323079" y="1471879"/>
            <a:ext cx="2513829" cy="452552"/>
            <a:chOff x="0" y="0"/>
            <a:chExt cx="29639065" cy="533577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116878" y="1465110"/>
            <a:ext cx="3530689" cy="525996"/>
            <a:chOff x="0" y="0"/>
            <a:chExt cx="6047830" cy="90099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HU-14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B4F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BACKEND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483" y="0"/>
            <a:ext cx="16596360" cy="3989394"/>
            <a:chOff x="0" y="0"/>
            <a:chExt cx="22128480" cy="5319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67" r="0" b="60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Filtros y comportamiento por rol</a:t>
              </a: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/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2910" y="9851984"/>
            <a:ext cx="6858000" cy="416573"/>
            <a:chOff x="0" y="0"/>
            <a:chExt cx="9144000" cy="555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555430"/>
            </a:xfrm>
            <a:custGeom>
              <a:avLst/>
              <a:gdLst/>
              <a:ahLst/>
              <a:cxnLst/>
              <a:rect r="r" b="b" t="t" l="l"/>
              <a:pathLst>
                <a:path h="55543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5430"/>
                  </a:lnTo>
                  <a:lnTo>
                    <a:pt x="0" y="555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391" r="0" b="-2701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0" cy="58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MedicalSys · Sprint 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276856"/>
            <a:ext cx="16436340" cy="1303020"/>
            <a:chOff x="0" y="0"/>
            <a:chExt cx="2191512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15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915120">
                  <a:moveTo>
                    <a:pt x="0" y="146304"/>
                  </a:moveTo>
                  <a:cubicBezTo>
                    <a:pt x="0" y="65532"/>
                    <a:pt x="307958" y="0"/>
                    <a:pt x="687533" y="0"/>
                  </a:cubicBezTo>
                  <a:lnTo>
                    <a:pt x="21227586" y="0"/>
                  </a:lnTo>
                  <a:cubicBezTo>
                    <a:pt x="21607162" y="0"/>
                    <a:pt x="21915120" y="65532"/>
                    <a:pt x="21915120" y="146304"/>
                  </a:cubicBezTo>
                  <a:lnTo>
                    <a:pt x="21915120" y="1591056"/>
                  </a:lnTo>
                  <a:cubicBezTo>
                    <a:pt x="21915120" y="1671828"/>
                    <a:pt x="21607163" y="1737360"/>
                    <a:pt x="21227586" y="1737360"/>
                  </a:cubicBezTo>
                  <a:lnTo>
                    <a:pt x="687533" y="1737360"/>
                  </a:lnTo>
                  <a:cubicBezTo>
                    <a:pt x="307958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04716" y="4370652"/>
            <a:ext cx="790346" cy="790346"/>
            <a:chOff x="0" y="0"/>
            <a:chExt cx="841248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82544" y="4548480"/>
            <a:ext cx="434690" cy="434690"/>
            <a:chOff x="0" y="0"/>
            <a:chExt cx="462686" cy="462686"/>
          </a:xfrm>
        </p:grpSpPr>
        <p:sp>
          <p:nvSpPr>
            <p:cNvPr name="Freeform 19" id="19" descr="/home/claude/medicalsys_pptx/icons/shield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25428" y="4869180"/>
            <a:ext cx="6035040" cy="3744468"/>
            <a:chOff x="0" y="0"/>
            <a:chExt cx="8046720" cy="49926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0" cy="4992624"/>
            </a:xfrm>
            <a:custGeom>
              <a:avLst/>
              <a:gdLst/>
              <a:ahLst/>
              <a:cxnLst/>
              <a:rect r="r" b="b" t="t" l="l"/>
              <a:pathLst>
                <a:path h="4992624" w="8046720">
                  <a:moveTo>
                    <a:pt x="0" y="110947"/>
                  </a:moveTo>
                  <a:cubicBezTo>
                    <a:pt x="0" y="49640"/>
                    <a:pt x="57277" y="0"/>
                    <a:pt x="128016" y="0"/>
                  </a:cubicBezTo>
                  <a:lnTo>
                    <a:pt x="7918704" y="0"/>
                  </a:lnTo>
                  <a:cubicBezTo>
                    <a:pt x="7989443" y="0"/>
                    <a:pt x="8046720" y="49640"/>
                    <a:pt x="8046720" y="110947"/>
                  </a:cubicBezTo>
                  <a:lnTo>
                    <a:pt x="8046720" y="4881677"/>
                  </a:lnTo>
                  <a:cubicBezTo>
                    <a:pt x="8046720" y="4942984"/>
                    <a:pt x="7989443" y="4992624"/>
                    <a:pt x="7918704" y="4992624"/>
                  </a:cubicBezTo>
                  <a:lnTo>
                    <a:pt x="128016" y="4992624"/>
                  </a:lnTo>
                  <a:cubicBezTo>
                    <a:pt x="57277" y="4992624"/>
                    <a:pt x="0" y="4942984"/>
                    <a:pt x="0" y="4881677"/>
                  </a:cubicBezTo>
                  <a:close/>
                </a:path>
              </a:pathLst>
            </a:custGeom>
            <a:solidFill>
              <a:srgbClr val="0730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181076" y="4548480"/>
            <a:ext cx="4526280" cy="1651797"/>
            <a:chOff x="0" y="0"/>
            <a:chExt cx="6035040" cy="22023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5040" cy="2202396"/>
            </a:xfrm>
            <a:custGeom>
              <a:avLst/>
              <a:gdLst/>
              <a:ahLst/>
              <a:cxnLst/>
              <a:rect r="r" b="b" t="t" l="l"/>
              <a:pathLst>
                <a:path h="220239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03" r="0" b="250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03504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Filtros disponibles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605004" y="6096464"/>
            <a:ext cx="3867912" cy="1876238"/>
            <a:chOff x="0" y="0"/>
            <a:chExt cx="5157216" cy="25016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7216" cy="2501651"/>
            </a:xfrm>
            <a:custGeom>
              <a:avLst/>
              <a:gdLst/>
              <a:ahLst/>
              <a:cxnLst/>
              <a:rect r="r" b="b" t="t" l="l"/>
              <a:pathLst>
                <a:path h="2501651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2501651"/>
                  </a:lnTo>
                  <a:lnTo>
                    <a:pt x="0" y="2501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0" r="0" b="4667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57216" cy="2511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Los filtros idMedico, idEspecialidad y diaSemana se combinan libremente; el backend nunca expone horarios inactivos ni de médicos dados de baja.</a:t>
              </a:r>
              <a:r>
                <a:rPr lang="en-US" sz="18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/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0323" y="5293700"/>
            <a:ext cx="9034655" cy="3484785"/>
            <a:chOff x="0" y="0"/>
            <a:chExt cx="15475749" cy="596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475748" cy="5969200"/>
            </a:xfrm>
            <a:custGeom>
              <a:avLst/>
              <a:gdLst/>
              <a:ahLst/>
              <a:cxnLst/>
              <a:rect r="r" b="b" t="t" l="l"/>
              <a:pathLst>
                <a:path h="5969200" w="15475748">
                  <a:moveTo>
                    <a:pt x="0" y="132591"/>
                  </a:moveTo>
                  <a:cubicBezTo>
                    <a:pt x="0" y="59351"/>
                    <a:pt x="83024" y="0"/>
                    <a:pt x="185474" y="0"/>
                  </a:cubicBezTo>
                  <a:lnTo>
                    <a:pt x="15290274" y="0"/>
                  </a:lnTo>
                  <a:cubicBezTo>
                    <a:pt x="15392726" y="0"/>
                    <a:pt x="15475748" y="59351"/>
                    <a:pt x="15475748" y="132591"/>
                  </a:cubicBezTo>
                  <a:lnTo>
                    <a:pt x="15475748" y="5836610"/>
                  </a:lnTo>
                  <a:cubicBezTo>
                    <a:pt x="15475748" y="5909849"/>
                    <a:pt x="15392726" y="5969200"/>
                    <a:pt x="15290274" y="5969200"/>
                  </a:cubicBezTo>
                  <a:lnTo>
                    <a:pt x="185474" y="5969200"/>
                  </a:lnTo>
                  <a:cubicBezTo>
                    <a:pt x="83024" y="5969200"/>
                    <a:pt x="0" y="5909849"/>
                    <a:pt x="0" y="58366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46718" y="5293700"/>
            <a:ext cx="9008260" cy="661939"/>
            <a:chOff x="0" y="0"/>
            <a:chExt cx="15430536" cy="1133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43053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430536">
                  <a:moveTo>
                    <a:pt x="0" y="128016"/>
                  </a:moveTo>
                  <a:cubicBezTo>
                    <a:pt x="0" y="57277"/>
                    <a:pt x="82611" y="0"/>
                    <a:pt x="184639" y="0"/>
                  </a:cubicBezTo>
                  <a:lnTo>
                    <a:pt x="15245897" y="0"/>
                  </a:lnTo>
                  <a:cubicBezTo>
                    <a:pt x="15347925" y="0"/>
                    <a:pt x="15430536" y="57277"/>
                    <a:pt x="15430536" y="128016"/>
                  </a:cubicBezTo>
                  <a:lnTo>
                    <a:pt x="15430536" y="1005840"/>
                  </a:lnTo>
                  <a:cubicBezTo>
                    <a:pt x="15430536" y="1076579"/>
                    <a:pt x="15347925" y="1133856"/>
                    <a:pt x="15245897" y="1133856"/>
                  </a:cubicBezTo>
                  <a:lnTo>
                    <a:pt x="184639" y="1133856"/>
                  </a:lnTo>
                  <a:cubicBezTo>
                    <a:pt x="82611" y="1133856"/>
                    <a:pt x="0" y="1076579"/>
                    <a:pt x="0" y="1005840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46718" y="5624669"/>
            <a:ext cx="6789787" cy="330969"/>
            <a:chOff x="0" y="0"/>
            <a:chExt cx="11630443" cy="5669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630443" cy="566928"/>
            </a:xfrm>
            <a:custGeom>
              <a:avLst/>
              <a:gdLst/>
              <a:ahLst/>
              <a:cxnLst/>
              <a:rect r="r" b="b" t="t" l="l"/>
              <a:pathLst>
                <a:path h="566928" w="11630443">
                  <a:moveTo>
                    <a:pt x="0" y="0"/>
                  </a:moveTo>
                  <a:lnTo>
                    <a:pt x="11630443" y="0"/>
                  </a:lnTo>
                  <a:lnTo>
                    <a:pt x="11630443" y="566928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56478" y="5313919"/>
            <a:ext cx="6794954" cy="827985"/>
            <a:chOff x="0" y="0"/>
            <a:chExt cx="11639293" cy="14182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639294" cy="1418282"/>
            </a:xfrm>
            <a:custGeom>
              <a:avLst/>
              <a:gdLst/>
              <a:ahLst/>
              <a:cxnLst/>
              <a:rect r="r" b="b" t="t" l="l"/>
              <a:pathLst>
                <a:path h="1418282" w="11639294">
                  <a:moveTo>
                    <a:pt x="0" y="0"/>
                  </a:moveTo>
                  <a:lnTo>
                    <a:pt x="11639294" y="0"/>
                  </a:lnTo>
                  <a:lnTo>
                    <a:pt x="11639294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23795" b="-6182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163929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Comportamiento validado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33744" y="6096464"/>
            <a:ext cx="8007813" cy="2592921"/>
            <a:chOff x="0" y="0"/>
            <a:chExt cx="13716838" cy="44414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716839" cy="4441497"/>
            </a:xfrm>
            <a:custGeom>
              <a:avLst/>
              <a:gdLst/>
              <a:ahLst/>
              <a:cxnLst/>
              <a:rect r="r" b="b" t="t" l="l"/>
              <a:pathLst>
                <a:path h="4441497" w="13716839">
                  <a:moveTo>
                    <a:pt x="0" y="0"/>
                  </a:moveTo>
                  <a:lnTo>
                    <a:pt x="13716839" y="0"/>
                  </a:lnTo>
                  <a:lnTo>
                    <a:pt x="13716839" y="4441497"/>
                  </a:lnTo>
                  <a:lnTo>
                    <a:pt x="0" y="44414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59" r="59442" b="6694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3716838" cy="4451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Sin filtros, el médico ve automáticamente su propia disponibilidad (no la de todos).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Los horarios con activo=false nunca se incluyen en los resultados.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Los horarios de médicos inactivos se excluyen aunque el horario esté activo.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La respuesta incluye nombre, colegiatura y especialidades del médico, no solo el horario.</a:t>
              </a:r>
            </a:p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23079" y="1471879"/>
            <a:ext cx="2513829" cy="452552"/>
            <a:chOff x="0" y="0"/>
            <a:chExt cx="29639065" cy="533577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116878" y="1465110"/>
            <a:ext cx="3530689" cy="525996"/>
            <a:chOff x="0" y="0"/>
            <a:chExt cx="6047830" cy="9009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HU-14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04716" y="2535119"/>
            <a:ext cx="9564252" cy="902083"/>
            <a:chOff x="0" y="0"/>
            <a:chExt cx="12752336" cy="120277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752336" cy="1202777"/>
            </a:xfrm>
            <a:custGeom>
              <a:avLst/>
              <a:gdLst/>
              <a:ahLst/>
              <a:cxnLst/>
              <a:rect r="r" b="b" t="t" l="l"/>
              <a:pathLst>
                <a:path h="1202777" w="12752336">
                  <a:moveTo>
                    <a:pt x="0" y="0"/>
                  </a:moveTo>
                  <a:lnTo>
                    <a:pt x="12752336" y="0"/>
                  </a:lnTo>
                  <a:lnTo>
                    <a:pt x="12752336" y="1202777"/>
                  </a:lnTo>
                  <a:lnTo>
                    <a:pt x="0" y="120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178" r="59558" b="-109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2752336" cy="1212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 endpoint está protegido con el permiso DISPONIBILIDAD_VER; requiere autenticación (401 sin token o con token inválido).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B4F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BACKEND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483" y="0"/>
            <a:ext cx="16596360" cy="3989394"/>
            <a:chOff x="0" y="0"/>
            <a:chExt cx="22128480" cy="5319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67" r="0" b="60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Verificación y pruebas</a:t>
              </a: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/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2910" y="9851984"/>
            <a:ext cx="6858000" cy="416573"/>
            <a:chOff x="0" y="0"/>
            <a:chExt cx="9144000" cy="555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555430"/>
            </a:xfrm>
            <a:custGeom>
              <a:avLst/>
              <a:gdLst/>
              <a:ahLst/>
              <a:cxnLst/>
              <a:rect r="r" b="b" t="t" l="l"/>
              <a:pathLst>
                <a:path h="55543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5430"/>
                  </a:lnTo>
                  <a:lnTo>
                    <a:pt x="0" y="555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391" r="0" b="-2701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0" cy="58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MedicalSys · Sprint 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276856"/>
            <a:ext cx="16436340" cy="1303020"/>
            <a:chOff x="0" y="0"/>
            <a:chExt cx="2191512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15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915120">
                  <a:moveTo>
                    <a:pt x="0" y="146304"/>
                  </a:moveTo>
                  <a:cubicBezTo>
                    <a:pt x="0" y="65532"/>
                    <a:pt x="307958" y="0"/>
                    <a:pt x="687533" y="0"/>
                  </a:cubicBezTo>
                  <a:lnTo>
                    <a:pt x="21227586" y="0"/>
                  </a:lnTo>
                  <a:cubicBezTo>
                    <a:pt x="21607162" y="0"/>
                    <a:pt x="21915120" y="65532"/>
                    <a:pt x="21915120" y="146304"/>
                  </a:cubicBezTo>
                  <a:lnTo>
                    <a:pt x="21915120" y="1591056"/>
                  </a:lnTo>
                  <a:cubicBezTo>
                    <a:pt x="21915120" y="1671828"/>
                    <a:pt x="21607163" y="1737360"/>
                    <a:pt x="21227586" y="1737360"/>
                  </a:cubicBezTo>
                  <a:lnTo>
                    <a:pt x="687533" y="1737360"/>
                  </a:lnTo>
                  <a:cubicBezTo>
                    <a:pt x="307958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04716" y="4370652"/>
            <a:ext cx="790346" cy="790346"/>
            <a:chOff x="0" y="0"/>
            <a:chExt cx="841248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82544" y="4548480"/>
            <a:ext cx="434690" cy="434690"/>
            <a:chOff x="0" y="0"/>
            <a:chExt cx="462686" cy="462686"/>
          </a:xfrm>
        </p:grpSpPr>
        <p:sp>
          <p:nvSpPr>
            <p:cNvPr name="Freeform 19" id="19" descr="/home/claude/medicalsys_pptx/icons/shield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25428" y="4869180"/>
            <a:ext cx="6035040" cy="3744468"/>
            <a:chOff x="0" y="0"/>
            <a:chExt cx="8046720" cy="49926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0" cy="4992624"/>
            </a:xfrm>
            <a:custGeom>
              <a:avLst/>
              <a:gdLst/>
              <a:ahLst/>
              <a:cxnLst/>
              <a:rect r="r" b="b" t="t" l="l"/>
              <a:pathLst>
                <a:path h="4992624" w="8046720">
                  <a:moveTo>
                    <a:pt x="0" y="110947"/>
                  </a:moveTo>
                  <a:cubicBezTo>
                    <a:pt x="0" y="49640"/>
                    <a:pt x="57277" y="0"/>
                    <a:pt x="128016" y="0"/>
                  </a:cubicBezTo>
                  <a:lnTo>
                    <a:pt x="7918704" y="0"/>
                  </a:lnTo>
                  <a:cubicBezTo>
                    <a:pt x="7989443" y="0"/>
                    <a:pt x="8046720" y="49640"/>
                    <a:pt x="8046720" y="110947"/>
                  </a:cubicBezTo>
                  <a:lnTo>
                    <a:pt x="8046720" y="4881677"/>
                  </a:lnTo>
                  <a:cubicBezTo>
                    <a:pt x="8046720" y="4942984"/>
                    <a:pt x="7989443" y="4992624"/>
                    <a:pt x="7918704" y="4992624"/>
                  </a:cubicBezTo>
                  <a:lnTo>
                    <a:pt x="128016" y="4992624"/>
                  </a:lnTo>
                  <a:cubicBezTo>
                    <a:pt x="57277" y="4992624"/>
                    <a:pt x="0" y="4942984"/>
                    <a:pt x="0" y="4881677"/>
                  </a:cubicBezTo>
                  <a:close/>
                </a:path>
              </a:pathLst>
            </a:custGeom>
            <a:solidFill>
              <a:srgbClr val="0730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181076" y="4548480"/>
            <a:ext cx="4526280" cy="1651797"/>
            <a:chOff x="0" y="0"/>
            <a:chExt cx="6035040" cy="22023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5040" cy="2202396"/>
            </a:xfrm>
            <a:custGeom>
              <a:avLst/>
              <a:gdLst/>
              <a:ahLst/>
              <a:cxnLst/>
              <a:rect r="r" b="b" t="t" l="l"/>
              <a:pathLst>
                <a:path h="220239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03" r="0" b="250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03504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Cobertura de pruebas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605004" y="6096464"/>
            <a:ext cx="3867912" cy="1876238"/>
            <a:chOff x="0" y="0"/>
            <a:chExt cx="5157216" cy="25016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7216" cy="2501651"/>
            </a:xfrm>
            <a:custGeom>
              <a:avLst/>
              <a:gdLst/>
              <a:ahLst/>
              <a:cxnLst/>
              <a:rect r="r" b="b" t="t" l="l"/>
              <a:pathLst>
                <a:path h="2501651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2501651"/>
                  </a:lnTo>
                  <a:lnTo>
                    <a:pt x="0" y="2501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0" r="0" b="4667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57216" cy="2511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Suite de integración con PostgreSQL real, endpoints HTTP reales y tokens JWT por rol; los datos de prueba se limpian en un bloque finally.</a:t>
              </a:r>
              <a:r>
                <a:rPr lang="en-US" sz="18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/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0323" y="5293700"/>
            <a:ext cx="9034655" cy="3484785"/>
            <a:chOff x="0" y="0"/>
            <a:chExt cx="15475749" cy="596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475748" cy="5969200"/>
            </a:xfrm>
            <a:custGeom>
              <a:avLst/>
              <a:gdLst/>
              <a:ahLst/>
              <a:cxnLst/>
              <a:rect r="r" b="b" t="t" l="l"/>
              <a:pathLst>
                <a:path h="5969200" w="15475748">
                  <a:moveTo>
                    <a:pt x="0" y="132591"/>
                  </a:moveTo>
                  <a:cubicBezTo>
                    <a:pt x="0" y="59351"/>
                    <a:pt x="83024" y="0"/>
                    <a:pt x="185474" y="0"/>
                  </a:cubicBezTo>
                  <a:lnTo>
                    <a:pt x="15290274" y="0"/>
                  </a:lnTo>
                  <a:cubicBezTo>
                    <a:pt x="15392726" y="0"/>
                    <a:pt x="15475748" y="59351"/>
                    <a:pt x="15475748" y="132591"/>
                  </a:cubicBezTo>
                  <a:lnTo>
                    <a:pt x="15475748" y="5836610"/>
                  </a:lnTo>
                  <a:cubicBezTo>
                    <a:pt x="15475748" y="5909849"/>
                    <a:pt x="15392726" y="5969200"/>
                    <a:pt x="15290274" y="5969200"/>
                  </a:cubicBezTo>
                  <a:lnTo>
                    <a:pt x="185474" y="5969200"/>
                  </a:lnTo>
                  <a:cubicBezTo>
                    <a:pt x="83024" y="5969200"/>
                    <a:pt x="0" y="5909849"/>
                    <a:pt x="0" y="58366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46718" y="5293700"/>
            <a:ext cx="9008260" cy="661939"/>
            <a:chOff x="0" y="0"/>
            <a:chExt cx="15430536" cy="1133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43053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430536">
                  <a:moveTo>
                    <a:pt x="0" y="128016"/>
                  </a:moveTo>
                  <a:cubicBezTo>
                    <a:pt x="0" y="57277"/>
                    <a:pt x="82611" y="0"/>
                    <a:pt x="184639" y="0"/>
                  </a:cubicBezTo>
                  <a:lnTo>
                    <a:pt x="15245897" y="0"/>
                  </a:lnTo>
                  <a:cubicBezTo>
                    <a:pt x="15347925" y="0"/>
                    <a:pt x="15430536" y="57277"/>
                    <a:pt x="15430536" y="128016"/>
                  </a:cubicBezTo>
                  <a:lnTo>
                    <a:pt x="15430536" y="1005840"/>
                  </a:lnTo>
                  <a:cubicBezTo>
                    <a:pt x="15430536" y="1076579"/>
                    <a:pt x="15347925" y="1133856"/>
                    <a:pt x="15245897" y="1133856"/>
                  </a:cubicBezTo>
                  <a:lnTo>
                    <a:pt x="184639" y="1133856"/>
                  </a:lnTo>
                  <a:cubicBezTo>
                    <a:pt x="82611" y="1133856"/>
                    <a:pt x="0" y="1076579"/>
                    <a:pt x="0" y="1005840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46718" y="5624669"/>
            <a:ext cx="6789787" cy="330969"/>
            <a:chOff x="0" y="0"/>
            <a:chExt cx="11630443" cy="5669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630443" cy="566928"/>
            </a:xfrm>
            <a:custGeom>
              <a:avLst/>
              <a:gdLst/>
              <a:ahLst/>
              <a:cxnLst/>
              <a:rect r="r" b="b" t="t" l="l"/>
              <a:pathLst>
                <a:path h="566928" w="11630443">
                  <a:moveTo>
                    <a:pt x="0" y="0"/>
                  </a:moveTo>
                  <a:lnTo>
                    <a:pt x="11630443" y="0"/>
                  </a:lnTo>
                  <a:lnTo>
                    <a:pt x="11630443" y="566928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56478" y="5313919"/>
            <a:ext cx="6794954" cy="827985"/>
            <a:chOff x="0" y="0"/>
            <a:chExt cx="11639293" cy="14182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639294" cy="1418282"/>
            </a:xfrm>
            <a:custGeom>
              <a:avLst/>
              <a:gdLst/>
              <a:ahLst/>
              <a:cxnLst/>
              <a:rect r="r" b="b" t="t" l="l"/>
              <a:pathLst>
                <a:path h="1418282" w="11639294">
                  <a:moveTo>
                    <a:pt x="0" y="0"/>
                  </a:moveTo>
                  <a:lnTo>
                    <a:pt x="11639294" y="0"/>
                  </a:lnTo>
                  <a:lnTo>
                    <a:pt x="11639294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23795" b="-6182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163929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Resultado: 10 / 10 pruebas superadas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33744" y="6096464"/>
            <a:ext cx="8007813" cy="2592921"/>
            <a:chOff x="0" y="0"/>
            <a:chExt cx="13716838" cy="44414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716839" cy="4441497"/>
            </a:xfrm>
            <a:custGeom>
              <a:avLst/>
              <a:gdLst/>
              <a:ahLst/>
              <a:cxnLst/>
              <a:rect r="r" b="b" t="t" l="l"/>
              <a:pathLst>
                <a:path h="4441497" w="13716839">
                  <a:moveTo>
                    <a:pt x="0" y="0"/>
                  </a:moveTo>
                  <a:lnTo>
                    <a:pt x="13716839" y="0"/>
                  </a:lnTo>
                  <a:lnTo>
                    <a:pt x="13716839" y="4441497"/>
                  </a:lnTo>
                  <a:lnTo>
                    <a:pt x="0" y="44414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59" r="59442" b="6694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3716838" cy="4451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3 filtros verificados de forma independiente: por médico, por especialidad y por día.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Comportamiento por defecto del médico y estructura de respuesta con datos del médico.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Seguridad: 401 sin token y 401 con token inválido.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Persistencia confirmada consultando directamente PostgreSQL tras cada prueba.</a:t>
              </a:r>
            </a:p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23079" y="1471879"/>
            <a:ext cx="2513829" cy="452552"/>
            <a:chOff x="0" y="0"/>
            <a:chExt cx="29639065" cy="533577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116878" y="1465110"/>
            <a:ext cx="3530689" cy="525996"/>
            <a:chOff x="0" y="0"/>
            <a:chExt cx="6047830" cy="9009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HU-14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04716" y="2535119"/>
            <a:ext cx="9564252" cy="902083"/>
            <a:chOff x="0" y="0"/>
            <a:chExt cx="12752336" cy="120277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752336" cy="1202777"/>
            </a:xfrm>
            <a:custGeom>
              <a:avLst/>
              <a:gdLst/>
              <a:ahLst/>
              <a:cxnLst/>
              <a:rect r="r" b="b" t="t" l="l"/>
              <a:pathLst>
                <a:path h="1202777" w="12752336">
                  <a:moveTo>
                    <a:pt x="0" y="0"/>
                  </a:moveTo>
                  <a:lnTo>
                    <a:pt x="12752336" y="0"/>
                  </a:lnTo>
                  <a:lnTo>
                    <a:pt x="12752336" y="1202777"/>
                  </a:lnTo>
                  <a:lnTo>
                    <a:pt x="0" y="120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178" r="59558" b="-109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2752336" cy="1212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Mismo servicio y repositorio que HU-13: HorarioDisponibilidadService y HorarioDisponibilidadRepository.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B4F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BACKEND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483" y="0"/>
            <a:ext cx="16596360" cy="3989394"/>
            <a:chOff x="0" y="0"/>
            <a:chExt cx="22128480" cy="5319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67" r="0" b="60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Crear campaña (Marketing)</a:t>
              </a: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/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2910" y="9851984"/>
            <a:ext cx="6858000" cy="416573"/>
            <a:chOff x="0" y="0"/>
            <a:chExt cx="9144000" cy="555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555430"/>
            </a:xfrm>
            <a:custGeom>
              <a:avLst/>
              <a:gdLst/>
              <a:ahLst/>
              <a:cxnLst/>
              <a:rect r="r" b="b" t="t" l="l"/>
              <a:pathLst>
                <a:path h="55543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5430"/>
                  </a:lnTo>
                  <a:lnTo>
                    <a:pt x="0" y="555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391" r="0" b="-2701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0" cy="58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MedicalSys · Sprint 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276856"/>
            <a:ext cx="16436340" cy="1303020"/>
            <a:chOff x="0" y="0"/>
            <a:chExt cx="2191512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15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915120">
                  <a:moveTo>
                    <a:pt x="0" y="146304"/>
                  </a:moveTo>
                  <a:cubicBezTo>
                    <a:pt x="0" y="65532"/>
                    <a:pt x="307958" y="0"/>
                    <a:pt x="687533" y="0"/>
                  </a:cubicBezTo>
                  <a:lnTo>
                    <a:pt x="21227586" y="0"/>
                  </a:lnTo>
                  <a:cubicBezTo>
                    <a:pt x="21607162" y="0"/>
                    <a:pt x="21915120" y="65532"/>
                    <a:pt x="21915120" y="146304"/>
                  </a:cubicBezTo>
                  <a:lnTo>
                    <a:pt x="21915120" y="1591056"/>
                  </a:lnTo>
                  <a:cubicBezTo>
                    <a:pt x="21915120" y="1671828"/>
                    <a:pt x="21607163" y="1737360"/>
                    <a:pt x="21227586" y="1737360"/>
                  </a:cubicBezTo>
                  <a:lnTo>
                    <a:pt x="687533" y="1737360"/>
                  </a:lnTo>
                  <a:cubicBezTo>
                    <a:pt x="307958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24521" y="2562277"/>
            <a:ext cx="14835123" cy="732179"/>
            <a:chOff x="0" y="0"/>
            <a:chExt cx="19780164" cy="9762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780165" cy="976238"/>
            </a:xfrm>
            <a:custGeom>
              <a:avLst/>
              <a:gdLst/>
              <a:ahLst/>
              <a:cxnLst/>
              <a:rect r="r" b="b" t="t" l="l"/>
              <a:pathLst>
                <a:path h="976238" w="19780165">
                  <a:moveTo>
                    <a:pt x="0" y="0"/>
                  </a:moveTo>
                  <a:lnTo>
                    <a:pt x="19780165" y="0"/>
                  </a:lnTo>
                  <a:lnTo>
                    <a:pt x="19780165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106" r="76423" b="-230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780164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Administrador crea campañas que nacen en BORRADOR y avanzan por una máquina de estados controlada; el listado es una zona de anuncios visible para todos los roles.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5246" y="3886200"/>
            <a:ext cx="16637508" cy="411480"/>
            <a:chOff x="0" y="0"/>
            <a:chExt cx="22183344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83344" cy="548640"/>
            </a:xfrm>
            <a:custGeom>
              <a:avLst/>
              <a:gdLst/>
              <a:ahLst/>
              <a:cxnLst/>
              <a:rect r="r" b="b" t="t" l="l"/>
              <a:pathLst>
                <a:path h="5486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45" r="0" b="-7378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218334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Separación estricta de responsabilidades en cada capa del backend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04716" y="4370652"/>
            <a:ext cx="790346" cy="790346"/>
            <a:chOff x="0" y="0"/>
            <a:chExt cx="841248" cy="8412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82544" y="4548480"/>
            <a:ext cx="434690" cy="434690"/>
            <a:chOff x="0" y="0"/>
            <a:chExt cx="462686" cy="462686"/>
          </a:xfrm>
        </p:grpSpPr>
        <p:sp>
          <p:nvSpPr>
            <p:cNvPr name="Freeform 25" id="25" descr="/home/claude/medicalsys_pptx/icons/shield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703104" y="3727355"/>
            <a:ext cx="10738393" cy="2009331"/>
            <a:chOff x="0" y="0"/>
            <a:chExt cx="11430000" cy="21387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30000" cy="2138742"/>
            </a:xfrm>
            <a:custGeom>
              <a:avLst/>
              <a:gdLst/>
              <a:ahLst/>
              <a:cxnLst/>
              <a:rect r="r" b="b" t="t" l="l"/>
              <a:pathLst>
                <a:path h="2138742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2138742"/>
                  </a:lnTo>
                  <a:lnTo>
                    <a:pt x="0" y="21387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901" r="0" b="-2636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1430000" cy="2138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Accesos por rol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425428" y="4869180"/>
            <a:ext cx="6035040" cy="3744468"/>
            <a:chOff x="0" y="0"/>
            <a:chExt cx="8046720" cy="49926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46720" cy="4992624"/>
            </a:xfrm>
            <a:custGeom>
              <a:avLst/>
              <a:gdLst/>
              <a:ahLst/>
              <a:cxnLst/>
              <a:rect r="r" b="b" t="t" l="l"/>
              <a:pathLst>
                <a:path h="4992624" w="8046720">
                  <a:moveTo>
                    <a:pt x="0" y="110947"/>
                  </a:moveTo>
                  <a:cubicBezTo>
                    <a:pt x="0" y="49640"/>
                    <a:pt x="57277" y="0"/>
                    <a:pt x="128016" y="0"/>
                  </a:cubicBezTo>
                  <a:lnTo>
                    <a:pt x="7918704" y="0"/>
                  </a:lnTo>
                  <a:cubicBezTo>
                    <a:pt x="7989443" y="0"/>
                    <a:pt x="8046720" y="49640"/>
                    <a:pt x="8046720" y="110947"/>
                  </a:cubicBezTo>
                  <a:lnTo>
                    <a:pt x="8046720" y="4881677"/>
                  </a:lnTo>
                  <a:cubicBezTo>
                    <a:pt x="8046720" y="4942984"/>
                    <a:pt x="7989443" y="4992624"/>
                    <a:pt x="7918704" y="4992624"/>
                  </a:cubicBezTo>
                  <a:lnTo>
                    <a:pt x="128016" y="4992624"/>
                  </a:lnTo>
                  <a:cubicBezTo>
                    <a:pt x="57277" y="4992624"/>
                    <a:pt x="0" y="4942984"/>
                    <a:pt x="0" y="4881677"/>
                  </a:cubicBezTo>
                  <a:close/>
                </a:path>
              </a:pathLst>
            </a:custGeom>
            <a:solidFill>
              <a:srgbClr val="07304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809476" y="5225796"/>
            <a:ext cx="630936" cy="630936"/>
            <a:chOff x="0" y="0"/>
            <a:chExt cx="841248" cy="8412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999062" y="5354041"/>
            <a:ext cx="347015" cy="347015"/>
            <a:chOff x="0" y="0"/>
            <a:chExt cx="462686" cy="462686"/>
          </a:xfrm>
        </p:grpSpPr>
        <p:sp>
          <p:nvSpPr>
            <p:cNvPr name="Freeform 34" id="34" descr="/home/claude/medicalsys_pptx/icons/plug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659868" y="5170932"/>
            <a:ext cx="4526280" cy="713232"/>
            <a:chOff x="0" y="0"/>
            <a:chExt cx="6035040" cy="9509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35040" cy="950976"/>
            </a:xfrm>
            <a:custGeom>
              <a:avLst/>
              <a:gdLst/>
              <a:ahLst/>
              <a:cxnLst/>
              <a:rect r="r" b="b" t="t" l="l"/>
              <a:pathLst>
                <a:path h="95097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655" r="0" b="-736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035040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Endpoints REST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836908" y="6240780"/>
            <a:ext cx="1165860" cy="493776"/>
            <a:chOff x="0" y="0"/>
            <a:chExt cx="1554480" cy="6583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225296" y="0"/>
                  </a:lnTo>
                  <a:cubicBezTo>
                    <a:pt x="1407160" y="0"/>
                    <a:pt x="1554480" y="147320"/>
                    <a:pt x="1554480" y="329184"/>
                  </a:cubicBezTo>
                  <a:cubicBezTo>
                    <a:pt x="1554480" y="511048"/>
                    <a:pt x="1407160" y="658368"/>
                    <a:pt x="12252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F6FB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36908" y="6240780"/>
            <a:ext cx="1165860" cy="493776"/>
            <a:chOff x="0" y="0"/>
            <a:chExt cx="1554480" cy="6583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554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DC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181076" y="6240780"/>
            <a:ext cx="3867912" cy="690525"/>
            <a:chOff x="0" y="0"/>
            <a:chExt cx="5157216" cy="920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57216" cy="920700"/>
            </a:xfrm>
            <a:custGeom>
              <a:avLst/>
              <a:gdLst/>
              <a:ahLst/>
              <a:cxnLst/>
              <a:rect r="r" b="b" t="t" l="l"/>
              <a:pathLst>
                <a:path h="920700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920700"/>
                  </a:lnTo>
                  <a:lnTo>
                    <a:pt x="0" y="920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89" r="0" b="-448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157216" cy="930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/api/campanas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36908" y="6899148"/>
            <a:ext cx="1165860" cy="493776"/>
            <a:chOff x="0" y="0"/>
            <a:chExt cx="1554480" cy="6583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225296" y="0"/>
                  </a:lnTo>
                  <a:cubicBezTo>
                    <a:pt x="1407160" y="0"/>
                    <a:pt x="1554480" y="147320"/>
                    <a:pt x="1554480" y="329184"/>
                  </a:cubicBezTo>
                  <a:cubicBezTo>
                    <a:pt x="1554480" y="511048"/>
                    <a:pt x="1407160" y="658368"/>
                    <a:pt x="12252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E3E6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836908" y="6899148"/>
            <a:ext cx="1165860" cy="493776"/>
            <a:chOff x="0" y="0"/>
            <a:chExt cx="1554480" cy="6583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554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DC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181076" y="6899148"/>
            <a:ext cx="3867912" cy="493776"/>
            <a:chOff x="0" y="0"/>
            <a:chExt cx="5157216" cy="6583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57216" cy="658368"/>
            </a:xfrm>
            <a:custGeom>
              <a:avLst/>
              <a:gdLst/>
              <a:ahLst/>
              <a:cxnLst/>
              <a:rect r="r" b="b" t="t" l="l"/>
              <a:pathLst>
                <a:path h="658368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5157216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/api/campanas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36908" y="7557516"/>
            <a:ext cx="1165860" cy="493776"/>
            <a:chOff x="0" y="0"/>
            <a:chExt cx="1554480" cy="6583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225296" y="0"/>
                  </a:lnTo>
                  <a:cubicBezTo>
                    <a:pt x="1407160" y="0"/>
                    <a:pt x="1554480" y="147320"/>
                    <a:pt x="1554480" y="329184"/>
                  </a:cubicBezTo>
                  <a:cubicBezTo>
                    <a:pt x="1554480" y="511048"/>
                    <a:pt x="1407160" y="658368"/>
                    <a:pt x="12252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F6FB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836908" y="7557516"/>
            <a:ext cx="1165860" cy="493776"/>
            <a:chOff x="0" y="0"/>
            <a:chExt cx="1554480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54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0" t="0" r="-434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55448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DCE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PATCH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181076" y="7557516"/>
            <a:ext cx="3867912" cy="493776"/>
            <a:chOff x="0" y="0"/>
            <a:chExt cx="5157216" cy="6583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57216" cy="658368"/>
            </a:xfrm>
            <a:custGeom>
              <a:avLst/>
              <a:gdLst/>
              <a:ahLst/>
              <a:cxnLst/>
              <a:rect r="r" b="b" t="t" l="l"/>
              <a:pathLst>
                <a:path h="658368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5157216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/api/campanas/:id/estado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20323" y="5269420"/>
            <a:ext cx="9034655" cy="3484785"/>
            <a:chOff x="0" y="0"/>
            <a:chExt cx="15475749" cy="596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475748" cy="5969200"/>
            </a:xfrm>
            <a:custGeom>
              <a:avLst/>
              <a:gdLst/>
              <a:ahLst/>
              <a:cxnLst/>
              <a:rect r="r" b="b" t="t" l="l"/>
              <a:pathLst>
                <a:path h="5969200" w="15475748">
                  <a:moveTo>
                    <a:pt x="0" y="132591"/>
                  </a:moveTo>
                  <a:cubicBezTo>
                    <a:pt x="0" y="59351"/>
                    <a:pt x="83024" y="0"/>
                    <a:pt x="185474" y="0"/>
                  </a:cubicBezTo>
                  <a:lnTo>
                    <a:pt x="15290274" y="0"/>
                  </a:lnTo>
                  <a:cubicBezTo>
                    <a:pt x="15392726" y="0"/>
                    <a:pt x="15475748" y="59351"/>
                    <a:pt x="15475748" y="132591"/>
                  </a:cubicBezTo>
                  <a:lnTo>
                    <a:pt x="15475748" y="5836610"/>
                  </a:lnTo>
                  <a:cubicBezTo>
                    <a:pt x="15475748" y="5909849"/>
                    <a:pt x="15392726" y="5969200"/>
                    <a:pt x="15290274" y="5969200"/>
                  </a:cubicBezTo>
                  <a:lnTo>
                    <a:pt x="185474" y="5969200"/>
                  </a:lnTo>
                  <a:cubicBezTo>
                    <a:pt x="83024" y="5969200"/>
                    <a:pt x="0" y="5909849"/>
                    <a:pt x="0" y="58366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46718" y="5293700"/>
            <a:ext cx="9008260" cy="661939"/>
            <a:chOff x="0" y="0"/>
            <a:chExt cx="15430536" cy="11338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43053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430536">
                  <a:moveTo>
                    <a:pt x="0" y="128016"/>
                  </a:moveTo>
                  <a:cubicBezTo>
                    <a:pt x="0" y="57277"/>
                    <a:pt x="82611" y="0"/>
                    <a:pt x="184639" y="0"/>
                  </a:cubicBezTo>
                  <a:lnTo>
                    <a:pt x="15245897" y="0"/>
                  </a:lnTo>
                  <a:cubicBezTo>
                    <a:pt x="15347925" y="0"/>
                    <a:pt x="15430536" y="57277"/>
                    <a:pt x="15430536" y="128016"/>
                  </a:cubicBezTo>
                  <a:lnTo>
                    <a:pt x="15430536" y="1005840"/>
                  </a:lnTo>
                  <a:cubicBezTo>
                    <a:pt x="15430536" y="1076579"/>
                    <a:pt x="15347925" y="1133856"/>
                    <a:pt x="15245897" y="1133856"/>
                  </a:cubicBezTo>
                  <a:lnTo>
                    <a:pt x="184639" y="1133856"/>
                  </a:lnTo>
                  <a:cubicBezTo>
                    <a:pt x="82611" y="1133856"/>
                    <a:pt x="0" y="1076579"/>
                    <a:pt x="0" y="1005840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46718" y="5624669"/>
            <a:ext cx="6789787" cy="330969"/>
            <a:chOff x="0" y="0"/>
            <a:chExt cx="11630443" cy="5669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630443" cy="566928"/>
            </a:xfrm>
            <a:custGeom>
              <a:avLst/>
              <a:gdLst/>
              <a:ahLst/>
              <a:cxnLst/>
              <a:rect r="r" b="b" t="t" l="l"/>
              <a:pathLst>
                <a:path h="566928" w="11630443">
                  <a:moveTo>
                    <a:pt x="0" y="0"/>
                  </a:moveTo>
                  <a:lnTo>
                    <a:pt x="11630443" y="0"/>
                  </a:lnTo>
                  <a:lnTo>
                    <a:pt x="11630443" y="566928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956478" y="5245402"/>
            <a:ext cx="1918087" cy="827985"/>
            <a:chOff x="0" y="0"/>
            <a:chExt cx="3285553" cy="14182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285553" cy="1418282"/>
            </a:xfrm>
            <a:custGeom>
              <a:avLst/>
              <a:gdLst/>
              <a:ahLst/>
              <a:cxnLst/>
              <a:rect r="r" b="b" t="t" l="l"/>
              <a:pathLst>
                <a:path h="1418282" w="3285553">
                  <a:moveTo>
                    <a:pt x="0" y="0"/>
                  </a:moveTo>
                  <a:lnTo>
                    <a:pt x="3285553" y="0"/>
                  </a:lnTo>
                  <a:lnTo>
                    <a:pt x="3285553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-169960" b="-6182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328555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Rol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68488" y="6097251"/>
            <a:ext cx="3530689" cy="525996"/>
            <a:chOff x="0" y="0"/>
            <a:chExt cx="6047830" cy="9009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Medico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768488" y="6802752"/>
            <a:ext cx="3530689" cy="525996"/>
            <a:chOff x="0" y="0"/>
            <a:chExt cx="6047830" cy="9009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Administrador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578843" y="5210677"/>
            <a:ext cx="1918087" cy="827985"/>
            <a:chOff x="0" y="0"/>
            <a:chExt cx="3285553" cy="141828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285553" cy="1418282"/>
            </a:xfrm>
            <a:custGeom>
              <a:avLst/>
              <a:gdLst/>
              <a:ahLst/>
              <a:cxnLst/>
              <a:rect r="r" b="b" t="t" l="l"/>
              <a:pathLst>
                <a:path h="1418282" w="3285553">
                  <a:moveTo>
                    <a:pt x="0" y="0"/>
                  </a:moveTo>
                  <a:lnTo>
                    <a:pt x="3285553" y="0"/>
                  </a:lnTo>
                  <a:lnTo>
                    <a:pt x="3285553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-169960" b="-6182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328555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Acceso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538268" y="5210677"/>
            <a:ext cx="2616710" cy="827985"/>
            <a:chOff x="0" y="0"/>
            <a:chExt cx="4482247" cy="141828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82247" cy="1418282"/>
            </a:xfrm>
            <a:custGeom>
              <a:avLst/>
              <a:gdLst/>
              <a:ahLst/>
              <a:cxnLst/>
              <a:rect r="r" b="b" t="t" l="l"/>
              <a:pathLst>
                <a:path h="1418282" w="4482247">
                  <a:moveTo>
                    <a:pt x="0" y="0"/>
                  </a:moveTo>
                  <a:lnTo>
                    <a:pt x="4482247" y="0"/>
                  </a:lnTo>
                  <a:lnTo>
                    <a:pt x="4482247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-97884" b="-6182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4482247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Alcance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050209" y="6113451"/>
            <a:ext cx="2497738" cy="576934"/>
            <a:chOff x="0" y="0"/>
            <a:chExt cx="23100341" cy="533577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3100340" cy="5335774"/>
            </a:xfrm>
            <a:custGeom>
              <a:avLst/>
              <a:gdLst/>
              <a:ahLst/>
              <a:cxnLst/>
              <a:rect r="r" b="b" t="t" l="l"/>
              <a:pathLst>
                <a:path h="5335774" w="23100340">
                  <a:moveTo>
                    <a:pt x="0" y="324731"/>
                  </a:moveTo>
                  <a:cubicBezTo>
                    <a:pt x="0" y="145492"/>
                    <a:pt x="60023" y="0"/>
                    <a:pt x="133968" y="0"/>
                  </a:cubicBezTo>
                  <a:lnTo>
                    <a:pt x="22966373" y="0"/>
                  </a:lnTo>
                  <a:cubicBezTo>
                    <a:pt x="23040318" y="0"/>
                    <a:pt x="23100340" y="145492"/>
                    <a:pt x="23100340" y="324731"/>
                  </a:cubicBezTo>
                  <a:lnTo>
                    <a:pt x="23100340" y="5011043"/>
                  </a:lnTo>
                  <a:cubicBezTo>
                    <a:pt x="23100340" y="5190282"/>
                    <a:pt x="23040318" y="5335774"/>
                    <a:pt x="22966373" y="5335774"/>
                  </a:cubicBezTo>
                  <a:lnTo>
                    <a:pt x="133968" y="5335774"/>
                  </a:lnTo>
                  <a:cubicBezTo>
                    <a:pt x="6002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7050209" y="6845495"/>
            <a:ext cx="2497738" cy="548845"/>
            <a:chOff x="0" y="0"/>
            <a:chExt cx="24282553" cy="533577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28255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4282552">
                  <a:moveTo>
                    <a:pt x="0" y="324731"/>
                  </a:moveTo>
                  <a:cubicBezTo>
                    <a:pt x="0" y="145492"/>
                    <a:pt x="63095" y="0"/>
                    <a:pt x="140824" y="0"/>
                  </a:cubicBezTo>
                  <a:lnTo>
                    <a:pt x="24141728" y="0"/>
                  </a:lnTo>
                  <a:cubicBezTo>
                    <a:pt x="24219458" y="0"/>
                    <a:pt x="24282552" y="145492"/>
                    <a:pt x="24282552" y="324731"/>
                  </a:cubicBezTo>
                  <a:lnTo>
                    <a:pt x="24282552" y="5011043"/>
                  </a:lnTo>
                  <a:cubicBezTo>
                    <a:pt x="24282552" y="5190282"/>
                    <a:pt x="24219458" y="5335774"/>
                    <a:pt x="24141728" y="5335774"/>
                  </a:cubicBezTo>
                  <a:lnTo>
                    <a:pt x="140824" y="5335774"/>
                  </a:lnTo>
                  <a:cubicBezTo>
                    <a:pt x="63095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87" id="87"/>
          <p:cNvSpPr txBox="true"/>
          <p:nvPr/>
        </p:nvSpPr>
        <p:spPr>
          <a:xfrm rot="0">
            <a:off x="7336306" y="6094186"/>
            <a:ext cx="1838190" cy="56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4"/>
              </a:lnSpc>
            </a:pPr>
            <a:r>
              <a:rPr lang="en-US" sz="1617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Ver campañas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7103107" y="6861294"/>
            <a:ext cx="2457259" cy="53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9"/>
              </a:lnSpc>
            </a:pPr>
            <a:r>
              <a:rPr lang="en-US" sz="1513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Crear y cambiar estado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7034118" y="7514142"/>
            <a:ext cx="2513829" cy="452552"/>
            <a:chOff x="0" y="0"/>
            <a:chExt cx="29639065" cy="533577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91" id="91"/>
          <p:cNvSpPr txBox="true"/>
          <p:nvPr/>
        </p:nvSpPr>
        <p:spPr>
          <a:xfrm rot="0">
            <a:off x="7233801" y="7666461"/>
            <a:ext cx="2114464" cy="27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5"/>
              </a:lnSpc>
            </a:pPr>
            <a:r>
              <a:rPr lang="en-US" sz="15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Solo ver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768488" y="7464822"/>
            <a:ext cx="3530689" cy="525996"/>
            <a:chOff x="0" y="0"/>
            <a:chExt cx="6047830" cy="90099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Recepcionista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541611" y="6097251"/>
            <a:ext cx="3530689" cy="525996"/>
            <a:chOff x="0" y="0"/>
            <a:chExt cx="6047830" cy="90099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Solo lectura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541611" y="6802752"/>
            <a:ext cx="3530689" cy="525996"/>
            <a:chOff x="0" y="0"/>
            <a:chExt cx="6047830" cy="90099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Permitido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541611" y="7477420"/>
            <a:ext cx="3530689" cy="525996"/>
            <a:chOff x="0" y="0"/>
            <a:chExt cx="6047830" cy="90099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Solo lectura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050209" y="8063135"/>
            <a:ext cx="2497738" cy="576934"/>
            <a:chOff x="0" y="0"/>
            <a:chExt cx="23100341" cy="533577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3100340" cy="5335774"/>
            </a:xfrm>
            <a:custGeom>
              <a:avLst/>
              <a:gdLst/>
              <a:ahLst/>
              <a:cxnLst/>
              <a:rect r="r" b="b" t="t" l="l"/>
              <a:pathLst>
                <a:path h="5335774" w="23100340">
                  <a:moveTo>
                    <a:pt x="0" y="324731"/>
                  </a:moveTo>
                  <a:cubicBezTo>
                    <a:pt x="0" y="145492"/>
                    <a:pt x="60023" y="0"/>
                    <a:pt x="133968" y="0"/>
                  </a:cubicBezTo>
                  <a:lnTo>
                    <a:pt x="22966373" y="0"/>
                  </a:lnTo>
                  <a:cubicBezTo>
                    <a:pt x="23040318" y="0"/>
                    <a:pt x="23100340" y="145492"/>
                    <a:pt x="23100340" y="324731"/>
                  </a:cubicBezTo>
                  <a:lnTo>
                    <a:pt x="23100340" y="5011043"/>
                  </a:lnTo>
                  <a:cubicBezTo>
                    <a:pt x="23100340" y="5190282"/>
                    <a:pt x="23040318" y="5335774"/>
                    <a:pt x="22966373" y="5335774"/>
                  </a:cubicBezTo>
                  <a:lnTo>
                    <a:pt x="133968" y="5335774"/>
                  </a:lnTo>
                  <a:cubicBezTo>
                    <a:pt x="6002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sp>
        <p:nvSpPr>
          <p:cNvPr name="TextBox 106" id="106"/>
          <p:cNvSpPr txBox="true"/>
          <p:nvPr/>
        </p:nvSpPr>
        <p:spPr>
          <a:xfrm rot="0">
            <a:off x="7248613" y="8270463"/>
            <a:ext cx="2100929" cy="31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Solo ver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768488" y="8136766"/>
            <a:ext cx="3530689" cy="525996"/>
            <a:chOff x="0" y="0"/>
            <a:chExt cx="6047830" cy="90099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Paciente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541611" y="8136766"/>
            <a:ext cx="3530689" cy="525996"/>
            <a:chOff x="0" y="0"/>
            <a:chExt cx="6047830" cy="90099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Solo lectura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323079" y="1471879"/>
            <a:ext cx="2513829" cy="452552"/>
            <a:chOff x="0" y="0"/>
            <a:chExt cx="29639065" cy="533577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116878" y="1465110"/>
            <a:ext cx="3530689" cy="525996"/>
            <a:chOff x="0" y="0"/>
            <a:chExt cx="6047830" cy="90099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HU-32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B4F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BACKEND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483" y="0"/>
            <a:ext cx="16596360" cy="3989394"/>
            <a:chOff x="0" y="0"/>
            <a:chExt cx="22128480" cy="5319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67" r="0" b="60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Crear promoción (Marketing)</a:t>
              </a: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/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2910" y="9851984"/>
            <a:ext cx="6858000" cy="416573"/>
            <a:chOff x="0" y="0"/>
            <a:chExt cx="9144000" cy="555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555430"/>
            </a:xfrm>
            <a:custGeom>
              <a:avLst/>
              <a:gdLst/>
              <a:ahLst/>
              <a:cxnLst/>
              <a:rect r="r" b="b" t="t" l="l"/>
              <a:pathLst>
                <a:path h="55543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5430"/>
                  </a:lnTo>
                  <a:lnTo>
                    <a:pt x="0" y="555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391" r="0" b="-2701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0" cy="58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MedicalSys · Sprint 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276856"/>
            <a:ext cx="16436340" cy="1303020"/>
            <a:chOff x="0" y="0"/>
            <a:chExt cx="2191512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15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915120">
                  <a:moveTo>
                    <a:pt x="0" y="146304"/>
                  </a:moveTo>
                  <a:cubicBezTo>
                    <a:pt x="0" y="65532"/>
                    <a:pt x="307958" y="0"/>
                    <a:pt x="687533" y="0"/>
                  </a:cubicBezTo>
                  <a:lnTo>
                    <a:pt x="21227586" y="0"/>
                  </a:lnTo>
                  <a:cubicBezTo>
                    <a:pt x="21607162" y="0"/>
                    <a:pt x="21915120" y="65532"/>
                    <a:pt x="21915120" y="146304"/>
                  </a:cubicBezTo>
                  <a:lnTo>
                    <a:pt x="21915120" y="1591056"/>
                  </a:lnTo>
                  <a:cubicBezTo>
                    <a:pt x="21915120" y="1671828"/>
                    <a:pt x="21607163" y="1737360"/>
                    <a:pt x="21227586" y="1737360"/>
                  </a:cubicBezTo>
                  <a:lnTo>
                    <a:pt x="687533" y="1737360"/>
                  </a:lnTo>
                  <a:cubicBezTo>
                    <a:pt x="307958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04716" y="4370652"/>
            <a:ext cx="790346" cy="790346"/>
            <a:chOff x="0" y="0"/>
            <a:chExt cx="841248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82544" y="4548480"/>
            <a:ext cx="434690" cy="434690"/>
            <a:chOff x="0" y="0"/>
            <a:chExt cx="462686" cy="462686"/>
          </a:xfrm>
        </p:grpSpPr>
        <p:sp>
          <p:nvSpPr>
            <p:cNvPr name="Freeform 19" id="19" descr="/home/claude/medicalsys_pptx/icons/shield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25428" y="4869180"/>
            <a:ext cx="6035040" cy="3744468"/>
            <a:chOff x="0" y="0"/>
            <a:chExt cx="8046720" cy="49926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0" cy="4992624"/>
            </a:xfrm>
            <a:custGeom>
              <a:avLst/>
              <a:gdLst/>
              <a:ahLst/>
              <a:cxnLst/>
              <a:rect r="r" b="b" t="t" l="l"/>
              <a:pathLst>
                <a:path h="4992624" w="8046720">
                  <a:moveTo>
                    <a:pt x="0" y="110947"/>
                  </a:moveTo>
                  <a:cubicBezTo>
                    <a:pt x="0" y="49640"/>
                    <a:pt x="57277" y="0"/>
                    <a:pt x="128016" y="0"/>
                  </a:cubicBezTo>
                  <a:lnTo>
                    <a:pt x="7918704" y="0"/>
                  </a:lnTo>
                  <a:cubicBezTo>
                    <a:pt x="7989443" y="0"/>
                    <a:pt x="8046720" y="49640"/>
                    <a:pt x="8046720" y="110947"/>
                  </a:cubicBezTo>
                  <a:lnTo>
                    <a:pt x="8046720" y="4881677"/>
                  </a:lnTo>
                  <a:cubicBezTo>
                    <a:pt x="8046720" y="4942984"/>
                    <a:pt x="7989443" y="4992624"/>
                    <a:pt x="7918704" y="4992624"/>
                  </a:cubicBezTo>
                  <a:lnTo>
                    <a:pt x="128016" y="4992624"/>
                  </a:lnTo>
                  <a:cubicBezTo>
                    <a:pt x="57277" y="4992624"/>
                    <a:pt x="0" y="4942984"/>
                    <a:pt x="0" y="4881677"/>
                  </a:cubicBezTo>
                  <a:close/>
                </a:path>
              </a:pathLst>
            </a:custGeom>
            <a:solidFill>
              <a:srgbClr val="0730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181076" y="4548480"/>
            <a:ext cx="4526280" cy="1651797"/>
            <a:chOff x="0" y="0"/>
            <a:chExt cx="6035040" cy="22023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5040" cy="2202396"/>
            </a:xfrm>
            <a:custGeom>
              <a:avLst/>
              <a:gdLst/>
              <a:ahLst/>
              <a:cxnLst/>
              <a:rect r="r" b="b" t="t" l="l"/>
              <a:pathLst>
                <a:path h="220239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03" r="0" b="250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03504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Reglas de la promoción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605004" y="6096464"/>
            <a:ext cx="3867912" cy="1876238"/>
            <a:chOff x="0" y="0"/>
            <a:chExt cx="5157216" cy="25016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7216" cy="2501651"/>
            </a:xfrm>
            <a:custGeom>
              <a:avLst/>
              <a:gdLst/>
              <a:ahLst/>
              <a:cxnLst/>
              <a:rect r="r" b="b" t="t" l="l"/>
              <a:pathLst>
                <a:path h="2501651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2501651"/>
                  </a:lnTo>
                  <a:lnTo>
                    <a:pt x="0" y="2501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0" r="0" b="4667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57216" cy="2511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Toda promoción pertenece obligatoriamente a una campaña existente; nace con activa=true y puede activarse o desactivarse manualmente.</a:t>
              </a:r>
              <a:r>
                <a:rPr lang="en-US" sz="18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/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0323" y="5293700"/>
            <a:ext cx="9034655" cy="3484785"/>
            <a:chOff x="0" y="0"/>
            <a:chExt cx="15475749" cy="596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475748" cy="5969200"/>
            </a:xfrm>
            <a:custGeom>
              <a:avLst/>
              <a:gdLst/>
              <a:ahLst/>
              <a:cxnLst/>
              <a:rect r="r" b="b" t="t" l="l"/>
              <a:pathLst>
                <a:path h="5969200" w="15475748">
                  <a:moveTo>
                    <a:pt x="0" y="132591"/>
                  </a:moveTo>
                  <a:cubicBezTo>
                    <a:pt x="0" y="59351"/>
                    <a:pt x="83024" y="0"/>
                    <a:pt x="185474" y="0"/>
                  </a:cubicBezTo>
                  <a:lnTo>
                    <a:pt x="15290274" y="0"/>
                  </a:lnTo>
                  <a:cubicBezTo>
                    <a:pt x="15392726" y="0"/>
                    <a:pt x="15475748" y="59351"/>
                    <a:pt x="15475748" y="132591"/>
                  </a:cubicBezTo>
                  <a:lnTo>
                    <a:pt x="15475748" y="5836610"/>
                  </a:lnTo>
                  <a:cubicBezTo>
                    <a:pt x="15475748" y="5909849"/>
                    <a:pt x="15392726" y="5969200"/>
                    <a:pt x="15290274" y="5969200"/>
                  </a:cubicBezTo>
                  <a:lnTo>
                    <a:pt x="185474" y="5969200"/>
                  </a:lnTo>
                  <a:cubicBezTo>
                    <a:pt x="83024" y="5969200"/>
                    <a:pt x="0" y="5909849"/>
                    <a:pt x="0" y="58366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46718" y="5293700"/>
            <a:ext cx="9008260" cy="661939"/>
            <a:chOff x="0" y="0"/>
            <a:chExt cx="15430536" cy="1133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43053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430536">
                  <a:moveTo>
                    <a:pt x="0" y="128016"/>
                  </a:moveTo>
                  <a:cubicBezTo>
                    <a:pt x="0" y="57277"/>
                    <a:pt x="82611" y="0"/>
                    <a:pt x="184639" y="0"/>
                  </a:cubicBezTo>
                  <a:lnTo>
                    <a:pt x="15245897" y="0"/>
                  </a:lnTo>
                  <a:cubicBezTo>
                    <a:pt x="15347925" y="0"/>
                    <a:pt x="15430536" y="57277"/>
                    <a:pt x="15430536" y="128016"/>
                  </a:cubicBezTo>
                  <a:lnTo>
                    <a:pt x="15430536" y="1005840"/>
                  </a:lnTo>
                  <a:cubicBezTo>
                    <a:pt x="15430536" y="1076579"/>
                    <a:pt x="15347925" y="1133856"/>
                    <a:pt x="15245897" y="1133856"/>
                  </a:cubicBezTo>
                  <a:lnTo>
                    <a:pt x="184639" y="1133856"/>
                  </a:lnTo>
                  <a:cubicBezTo>
                    <a:pt x="82611" y="1133856"/>
                    <a:pt x="0" y="1076579"/>
                    <a:pt x="0" y="1005840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46718" y="5624669"/>
            <a:ext cx="6789787" cy="330969"/>
            <a:chOff x="0" y="0"/>
            <a:chExt cx="11630443" cy="5669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630443" cy="566928"/>
            </a:xfrm>
            <a:custGeom>
              <a:avLst/>
              <a:gdLst/>
              <a:ahLst/>
              <a:cxnLst/>
              <a:rect r="r" b="b" t="t" l="l"/>
              <a:pathLst>
                <a:path h="566928" w="11630443">
                  <a:moveTo>
                    <a:pt x="0" y="0"/>
                  </a:moveTo>
                  <a:lnTo>
                    <a:pt x="11630443" y="0"/>
                  </a:lnTo>
                  <a:lnTo>
                    <a:pt x="11630443" y="566928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56478" y="5313919"/>
            <a:ext cx="6794954" cy="827985"/>
            <a:chOff x="0" y="0"/>
            <a:chExt cx="11639293" cy="14182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639294" cy="1418282"/>
            </a:xfrm>
            <a:custGeom>
              <a:avLst/>
              <a:gdLst/>
              <a:ahLst/>
              <a:cxnLst/>
              <a:rect r="r" b="b" t="t" l="l"/>
              <a:pathLst>
                <a:path h="1418282" w="11639294">
                  <a:moveTo>
                    <a:pt x="0" y="0"/>
                  </a:moveTo>
                  <a:lnTo>
                    <a:pt x="11639294" y="0"/>
                  </a:lnTo>
                  <a:lnTo>
                    <a:pt x="11639294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23795" b="-6182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163929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Validaciones aplicadas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33744" y="6096464"/>
            <a:ext cx="8007813" cy="2592921"/>
            <a:chOff x="0" y="0"/>
            <a:chExt cx="13716838" cy="44414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716839" cy="4441497"/>
            </a:xfrm>
            <a:custGeom>
              <a:avLst/>
              <a:gdLst/>
              <a:ahLst/>
              <a:cxnLst/>
              <a:rect r="r" b="b" t="t" l="l"/>
              <a:pathLst>
                <a:path h="4441497" w="13716839">
                  <a:moveTo>
                    <a:pt x="0" y="0"/>
                  </a:moveTo>
                  <a:lnTo>
                    <a:pt x="13716839" y="0"/>
                  </a:lnTo>
                  <a:lnTo>
                    <a:pt x="13716839" y="4441497"/>
                  </a:lnTo>
                  <a:lnTo>
                    <a:pt x="0" y="44414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59" r="59442" b="6694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3716838" cy="4451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La campaña referenciada (idCampana) debe existir, o se responde 404.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El porcentaje de descuento, si se define, debe estar entre 0 y 100.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La vigencia de la promoción debe caer dentro del rango de fechas de su campaña padre.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Nombre obligatorio (máx. 150 caracteres) y fecha de inicio obligatoria.</a:t>
              </a:r>
            </a:p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23079" y="1471879"/>
            <a:ext cx="2513829" cy="452552"/>
            <a:chOff x="0" y="0"/>
            <a:chExt cx="29639065" cy="533577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116878" y="1465110"/>
            <a:ext cx="3530689" cy="525996"/>
            <a:chOff x="0" y="0"/>
            <a:chExt cx="6047830" cy="9009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HU-33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04716" y="2535119"/>
            <a:ext cx="9564252" cy="902083"/>
            <a:chOff x="0" y="0"/>
            <a:chExt cx="12752336" cy="120277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752336" cy="1202777"/>
            </a:xfrm>
            <a:custGeom>
              <a:avLst/>
              <a:gdLst/>
              <a:ahLst/>
              <a:cxnLst/>
              <a:rect r="r" b="b" t="t" l="l"/>
              <a:pathLst>
                <a:path h="1202777" w="12752336">
                  <a:moveTo>
                    <a:pt x="0" y="0"/>
                  </a:moveTo>
                  <a:lnTo>
                    <a:pt x="12752336" y="0"/>
                  </a:lnTo>
                  <a:lnTo>
                    <a:pt x="12752336" y="1202777"/>
                  </a:lnTo>
                  <a:lnTo>
                    <a:pt x="0" y="120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178" r="59558" b="-109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2752336" cy="1212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Endpoints GET/POST /api/promociones y PATCH /api/promociones/:id/estado, protegidos con PROMOCION_GESTIONAR / PROMOCION_VER.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B4F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BACKEND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2483" y="0"/>
            <a:ext cx="16596360" cy="3989394"/>
            <a:chOff x="0" y="0"/>
            <a:chExt cx="22128480" cy="5319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67" r="0" b="60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Pruebas y decisiones de diseño</a:t>
              </a:r>
              <a:r>
                <a:rPr lang="en-US" sz="4500" b="true">
                  <a:solidFill>
                    <a:srgbClr val="0730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/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2910" y="9851984"/>
            <a:ext cx="6858000" cy="416573"/>
            <a:chOff x="0" y="0"/>
            <a:chExt cx="9144000" cy="555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555430"/>
            </a:xfrm>
            <a:custGeom>
              <a:avLst/>
              <a:gdLst/>
              <a:ahLst/>
              <a:cxnLst/>
              <a:rect r="r" b="b" t="t" l="l"/>
              <a:pathLst>
                <a:path h="55543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5430"/>
                  </a:lnTo>
                  <a:lnTo>
                    <a:pt x="0" y="555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391" r="0" b="-2701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0" cy="58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MedicalSys · Sprint 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276856"/>
            <a:ext cx="16436340" cy="1303020"/>
            <a:chOff x="0" y="0"/>
            <a:chExt cx="2191512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15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915120">
                  <a:moveTo>
                    <a:pt x="0" y="146304"/>
                  </a:moveTo>
                  <a:cubicBezTo>
                    <a:pt x="0" y="65532"/>
                    <a:pt x="307958" y="0"/>
                    <a:pt x="687533" y="0"/>
                  </a:cubicBezTo>
                  <a:lnTo>
                    <a:pt x="21227586" y="0"/>
                  </a:lnTo>
                  <a:cubicBezTo>
                    <a:pt x="21607162" y="0"/>
                    <a:pt x="21915120" y="65532"/>
                    <a:pt x="21915120" y="146304"/>
                  </a:cubicBezTo>
                  <a:lnTo>
                    <a:pt x="21915120" y="1591056"/>
                  </a:lnTo>
                  <a:cubicBezTo>
                    <a:pt x="21915120" y="1671828"/>
                    <a:pt x="21607163" y="1737360"/>
                    <a:pt x="21227586" y="1737360"/>
                  </a:cubicBezTo>
                  <a:lnTo>
                    <a:pt x="687533" y="1737360"/>
                  </a:lnTo>
                  <a:cubicBezTo>
                    <a:pt x="307958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04716" y="4370652"/>
            <a:ext cx="790346" cy="790346"/>
            <a:chOff x="0" y="0"/>
            <a:chExt cx="841248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82544" y="4548480"/>
            <a:ext cx="434690" cy="434690"/>
            <a:chOff x="0" y="0"/>
            <a:chExt cx="462686" cy="462686"/>
          </a:xfrm>
        </p:grpSpPr>
        <p:sp>
          <p:nvSpPr>
            <p:cNvPr name="Freeform 19" id="19" descr="/home/claude/medicalsys_pptx/icons/shield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25428" y="4869180"/>
            <a:ext cx="6035040" cy="3744468"/>
            <a:chOff x="0" y="0"/>
            <a:chExt cx="8046720" cy="49926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0" cy="4992624"/>
            </a:xfrm>
            <a:custGeom>
              <a:avLst/>
              <a:gdLst/>
              <a:ahLst/>
              <a:cxnLst/>
              <a:rect r="r" b="b" t="t" l="l"/>
              <a:pathLst>
                <a:path h="4992624" w="8046720">
                  <a:moveTo>
                    <a:pt x="0" y="110947"/>
                  </a:moveTo>
                  <a:cubicBezTo>
                    <a:pt x="0" y="49640"/>
                    <a:pt x="57277" y="0"/>
                    <a:pt x="128016" y="0"/>
                  </a:cubicBezTo>
                  <a:lnTo>
                    <a:pt x="7918704" y="0"/>
                  </a:lnTo>
                  <a:cubicBezTo>
                    <a:pt x="7989443" y="0"/>
                    <a:pt x="8046720" y="49640"/>
                    <a:pt x="8046720" y="110947"/>
                  </a:cubicBezTo>
                  <a:lnTo>
                    <a:pt x="8046720" y="4881677"/>
                  </a:lnTo>
                  <a:cubicBezTo>
                    <a:pt x="8046720" y="4942984"/>
                    <a:pt x="7989443" y="4992624"/>
                    <a:pt x="7918704" y="4992624"/>
                  </a:cubicBezTo>
                  <a:lnTo>
                    <a:pt x="128016" y="4992624"/>
                  </a:lnTo>
                  <a:cubicBezTo>
                    <a:pt x="57277" y="4992624"/>
                    <a:pt x="0" y="4942984"/>
                    <a:pt x="0" y="4881677"/>
                  </a:cubicBezTo>
                  <a:close/>
                </a:path>
              </a:pathLst>
            </a:custGeom>
            <a:solidFill>
              <a:srgbClr val="0730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181076" y="4548480"/>
            <a:ext cx="4526280" cy="1651797"/>
            <a:chOff x="0" y="0"/>
            <a:chExt cx="6035040" cy="22023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5040" cy="2202396"/>
            </a:xfrm>
            <a:custGeom>
              <a:avLst/>
              <a:gdLst/>
              <a:ahLst/>
              <a:cxnLst/>
              <a:rect r="r" b="b" t="t" l="l"/>
              <a:pathLst>
                <a:path h="220239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03" r="0" b="250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03504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Cobertura de pruebas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605004" y="6096464"/>
            <a:ext cx="3867912" cy="1876238"/>
            <a:chOff x="0" y="0"/>
            <a:chExt cx="5157216" cy="25016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7216" cy="2501651"/>
            </a:xfrm>
            <a:custGeom>
              <a:avLst/>
              <a:gdLst/>
              <a:ahLst/>
              <a:cxnLst/>
              <a:rect r="r" b="b" t="t" l="l"/>
              <a:pathLst>
                <a:path h="2501651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2501651"/>
                  </a:lnTo>
                  <a:lnTo>
                    <a:pt x="0" y="2501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0" r="0" b="4667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57216" cy="2511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Suite de integración con PostgreSQL real; 10/10 pruebas superadas cubriendo creación, máquina de estados, validaciones de promoción, filtros y permisos por rol.</a:t>
              </a:r>
              <a:r>
                <a:rPr lang="en-US" sz="18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/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0323" y="5293700"/>
            <a:ext cx="9034655" cy="3484785"/>
            <a:chOff x="0" y="0"/>
            <a:chExt cx="15475749" cy="596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475748" cy="5969200"/>
            </a:xfrm>
            <a:custGeom>
              <a:avLst/>
              <a:gdLst/>
              <a:ahLst/>
              <a:cxnLst/>
              <a:rect r="r" b="b" t="t" l="l"/>
              <a:pathLst>
                <a:path h="5969200" w="15475748">
                  <a:moveTo>
                    <a:pt x="0" y="132591"/>
                  </a:moveTo>
                  <a:cubicBezTo>
                    <a:pt x="0" y="59351"/>
                    <a:pt x="83024" y="0"/>
                    <a:pt x="185474" y="0"/>
                  </a:cubicBezTo>
                  <a:lnTo>
                    <a:pt x="15290274" y="0"/>
                  </a:lnTo>
                  <a:cubicBezTo>
                    <a:pt x="15392726" y="0"/>
                    <a:pt x="15475748" y="59351"/>
                    <a:pt x="15475748" y="132591"/>
                  </a:cubicBezTo>
                  <a:lnTo>
                    <a:pt x="15475748" y="5836610"/>
                  </a:lnTo>
                  <a:cubicBezTo>
                    <a:pt x="15475748" y="5909849"/>
                    <a:pt x="15392726" y="5969200"/>
                    <a:pt x="15290274" y="5969200"/>
                  </a:cubicBezTo>
                  <a:lnTo>
                    <a:pt x="185474" y="5969200"/>
                  </a:lnTo>
                  <a:cubicBezTo>
                    <a:pt x="83024" y="5969200"/>
                    <a:pt x="0" y="5909849"/>
                    <a:pt x="0" y="583661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46718" y="5293700"/>
            <a:ext cx="9008260" cy="661939"/>
            <a:chOff x="0" y="0"/>
            <a:chExt cx="15430536" cy="1133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43053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5430536">
                  <a:moveTo>
                    <a:pt x="0" y="128016"/>
                  </a:moveTo>
                  <a:cubicBezTo>
                    <a:pt x="0" y="57277"/>
                    <a:pt x="82611" y="0"/>
                    <a:pt x="184639" y="0"/>
                  </a:cubicBezTo>
                  <a:lnTo>
                    <a:pt x="15245897" y="0"/>
                  </a:lnTo>
                  <a:cubicBezTo>
                    <a:pt x="15347925" y="0"/>
                    <a:pt x="15430536" y="57277"/>
                    <a:pt x="15430536" y="128016"/>
                  </a:cubicBezTo>
                  <a:lnTo>
                    <a:pt x="15430536" y="1005840"/>
                  </a:lnTo>
                  <a:cubicBezTo>
                    <a:pt x="15430536" y="1076579"/>
                    <a:pt x="15347925" y="1133856"/>
                    <a:pt x="15245897" y="1133856"/>
                  </a:cubicBezTo>
                  <a:lnTo>
                    <a:pt x="184639" y="1133856"/>
                  </a:lnTo>
                  <a:cubicBezTo>
                    <a:pt x="82611" y="1133856"/>
                    <a:pt x="0" y="1076579"/>
                    <a:pt x="0" y="1005840"/>
                  </a:cubicBez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46718" y="5624669"/>
            <a:ext cx="6789787" cy="330969"/>
            <a:chOff x="0" y="0"/>
            <a:chExt cx="11630443" cy="5669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630443" cy="566928"/>
            </a:xfrm>
            <a:custGeom>
              <a:avLst/>
              <a:gdLst/>
              <a:ahLst/>
              <a:cxnLst/>
              <a:rect r="r" b="b" t="t" l="l"/>
              <a:pathLst>
                <a:path h="566928" w="11630443">
                  <a:moveTo>
                    <a:pt x="0" y="0"/>
                  </a:moveTo>
                  <a:lnTo>
                    <a:pt x="11630443" y="0"/>
                  </a:lnTo>
                  <a:lnTo>
                    <a:pt x="11630443" y="566928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B4F8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56478" y="5313919"/>
            <a:ext cx="6794954" cy="827985"/>
            <a:chOff x="0" y="0"/>
            <a:chExt cx="11639293" cy="14182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639294" cy="1418282"/>
            </a:xfrm>
            <a:custGeom>
              <a:avLst/>
              <a:gdLst/>
              <a:ahLst/>
              <a:cxnLst/>
              <a:rect r="r" b="b" t="t" l="l"/>
              <a:pathLst>
                <a:path h="1418282" w="11639294">
                  <a:moveTo>
                    <a:pt x="0" y="0"/>
                  </a:moveTo>
                  <a:lnTo>
                    <a:pt x="11639294" y="0"/>
                  </a:lnTo>
                  <a:lnTo>
                    <a:pt x="11639294" y="1418282"/>
                  </a:lnTo>
                  <a:lnTo>
                    <a:pt x="0" y="14182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83" r="23795" b="-6182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1639293" cy="142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Decisiones destacadas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33744" y="6096464"/>
            <a:ext cx="8007813" cy="2592921"/>
            <a:chOff x="0" y="0"/>
            <a:chExt cx="13716838" cy="44414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716839" cy="4441497"/>
            </a:xfrm>
            <a:custGeom>
              <a:avLst/>
              <a:gdLst/>
              <a:ahLst/>
              <a:cxnLst/>
              <a:rect r="r" b="b" t="t" l="l"/>
              <a:pathLst>
                <a:path h="4441497" w="13716839">
                  <a:moveTo>
                    <a:pt x="0" y="0"/>
                  </a:moveTo>
                  <a:lnTo>
                    <a:pt x="13716839" y="0"/>
                  </a:lnTo>
                  <a:lnTo>
                    <a:pt x="13716839" y="4441497"/>
                  </a:lnTo>
                  <a:lnTo>
                    <a:pt x="0" y="44414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59" r="59442" b="6694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3716838" cy="4451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 detectó y corrigió un bug real de huso horario: las fechas se guardan como string, no como Date.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Manejo de errores consistente con AppError, a diferencia del patrón inconsistente hallado en otros servicios.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Autorización resuelta a nivel de ruta (requirePermission), sin lógica de propiedad en el servicio.</a:t>
              </a:r>
            </a:p>
            <a:p>
              <a:pPr algn="l" marL="842010" indent="-280670" lvl="2">
                <a:lnSpc>
                  <a:spcPts val="2340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Marketing queda desacoplado de Facturación por decisión explícita del equipo.</a:t>
              </a:r>
            </a:p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23079" y="1471879"/>
            <a:ext cx="2513829" cy="452552"/>
            <a:chOff x="0" y="0"/>
            <a:chExt cx="29639065" cy="533577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639062" cy="5335774"/>
            </a:xfrm>
            <a:custGeom>
              <a:avLst/>
              <a:gdLst/>
              <a:ahLst/>
              <a:cxnLst/>
              <a:rect r="r" b="b" t="t" l="l"/>
              <a:pathLst>
                <a:path h="5335774" w="29639062">
                  <a:moveTo>
                    <a:pt x="0" y="324731"/>
                  </a:moveTo>
                  <a:cubicBezTo>
                    <a:pt x="0" y="145492"/>
                    <a:pt x="77013" y="0"/>
                    <a:pt x="171889" y="0"/>
                  </a:cubicBezTo>
                  <a:lnTo>
                    <a:pt x="29467175" y="0"/>
                  </a:lnTo>
                  <a:cubicBezTo>
                    <a:pt x="29562053" y="0"/>
                    <a:pt x="29639062" y="145492"/>
                    <a:pt x="29639062" y="324731"/>
                  </a:cubicBezTo>
                  <a:lnTo>
                    <a:pt x="29639062" y="5011043"/>
                  </a:lnTo>
                  <a:cubicBezTo>
                    <a:pt x="29639062" y="5190282"/>
                    <a:pt x="29562053" y="5335774"/>
                    <a:pt x="29467175" y="5335774"/>
                  </a:cubicBezTo>
                  <a:lnTo>
                    <a:pt x="171889" y="5335774"/>
                  </a:lnTo>
                  <a:cubicBezTo>
                    <a:pt x="77013" y="5335774"/>
                    <a:pt x="0" y="5190282"/>
                    <a:pt x="0" y="5011043"/>
                  </a:cubicBezTo>
                  <a:close/>
                </a:path>
              </a:pathLst>
            </a:custGeom>
            <a:solidFill>
              <a:srgbClr val="EAF1F7"/>
            </a:solidFill>
            <a:ln w="19050" cap="sq">
              <a:solidFill>
                <a:srgbClr val="D7DFE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116878" y="1465110"/>
            <a:ext cx="3530689" cy="525996"/>
            <a:chOff x="0" y="0"/>
            <a:chExt cx="6047830" cy="9009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47830" cy="900995"/>
            </a:xfrm>
            <a:custGeom>
              <a:avLst/>
              <a:gdLst/>
              <a:ahLst/>
              <a:cxnLst/>
              <a:rect r="r" b="b" t="t" l="l"/>
              <a:pathLst>
                <a:path h="900995" w="6047830">
                  <a:moveTo>
                    <a:pt x="0" y="0"/>
                  </a:moveTo>
                  <a:lnTo>
                    <a:pt x="6047830" y="0"/>
                  </a:lnTo>
                  <a:lnTo>
                    <a:pt x="6047830" y="900995"/>
                  </a:lnTo>
                  <a:lnTo>
                    <a:pt x="0" y="900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685" r="8013" b="-6293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047830" cy="910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54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HU-32 / HU-33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04716" y="2535119"/>
            <a:ext cx="9564252" cy="902083"/>
            <a:chOff x="0" y="0"/>
            <a:chExt cx="12752336" cy="120277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752336" cy="1202777"/>
            </a:xfrm>
            <a:custGeom>
              <a:avLst/>
              <a:gdLst/>
              <a:ahLst/>
              <a:cxnLst/>
              <a:rect r="r" b="b" t="t" l="l"/>
              <a:pathLst>
                <a:path h="1202777" w="12752336">
                  <a:moveTo>
                    <a:pt x="0" y="0"/>
                  </a:moveTo>
                  <a:lnTo>
                    <a:pt x="12752336" y="0"/>
                  </a:lnTo>
                  <a:lnTo>
                    <a:pt x="12752336" y="1202777"/>
                  </a:lnTo>
                  <a:lnTo>
                    <a:pt x="0" y="120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178" r="59558" b="-109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2752336" cy="1212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C7D9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npm run test:hu32-33 — Back/src/scripts/test/test-hu32-hu33-marketing.ts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DAHT4tn6FaU</dc:identifier>
  <dcterms:modified xsi:type="dcterms:W3CDTF">2011-08-01T06:04:30Z</dcterms:modified>
  <cp:revision>1</cp:revision>
  <dc:title>Presentación - Identidad visual - Manual de marca - Diapositivas verdes, estilo orgánico</dc:title>
</cp:coreProperties>
</file>